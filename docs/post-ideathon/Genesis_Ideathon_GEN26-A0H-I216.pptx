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1302" y="57555"/>
            <a:ext cx="1804670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06" y="887098"/>
            <a:ext cx="3822065" cy="16840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11302" y="3333867"/>
            <a:ext cx="111950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302" y="1376131"/>
            <a:ext cx="25958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Black"/>
                <a:cs typeface="Arial Black"/>
              </a:rPr>
              <a:t>Genesis</a:t>
            </a:r>
            <a:r>
              <a:rPr dirty="0" sz="1200" spc="35">
                <a:latin typeface="Arial Black"/>
                <a:cs typeface="Arial Black"/>
              </a:rPr>
              <a:t> </a:t>
            </a:r>
            <a:r>
              <a:rPr dirty="0" sz="1200" spc="-105">
                <a:latin typeface="Arial Black"/>
                <a:cs typeface="Arial Black"/>
              </a:rPr>
              <a:t>Ideathon:</a:t>
            </a:r>
            <a:r>
              <a:rPr dirty="0" sz="1200" spc="100">
                <a:latin typeface="Arial Black"/>
                <a:cs typeface="Arial Black"/>
              </a:rPr>
              <a:t> </a:t>
            </a:r>
            <a:r>
              <a:rPr dirty="0" sz="1200" spc="-120">
                <a:latin typeface="Arial Black"/>
                <a:cs typeface="Arial Black"/>
              </a:rPr>
              <a:t>Final</a:t>
            </a:r>
            <a:r>
              <a:rPr dirty="0" sz="1200" spc="20">
                <a:latin typeface="Arial Black"/>
                <a:cs typeface="Arial Black"/>
              </a:rPr>
              <a:t> </a:t>
            </a:r>
            <a:r>
              <a:rPr dirty="0" sz="1200" spc="-114">
                <a:latin typeface="Arial Black"/>
                <a:cs typeface="Arial Black"/>
              </a:rPr>
              <a:t>Presentation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505" y="1699843"/>
            <a:ext cx="3960495" cy="824230"/>
          </a:xfrm>
          <a:custGeom>
            <a:avLst/>
            <a:gdLst/>
            <a:ahLst/>
            <a:cxnLst/>
            <a:rect l="l" t="t" r="r" b="b"/>
            <a:pathLst>
              <a:path w="3960495" h="824230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773366"/>
                </a:lnTo>
                <a:lnTo>
                  <a:pt x="3977" y="793066"/>
                </a:lnTo>
                <a:lnTo>
                  <a:pt x="14823" y="809153"/>
                </a:lnTo>
                <a:lnTo>
                  <a:pt x="30910" y="820000"/>
                </a:lnTo>
                <a:lnTo>
                  <a:pt x="50610" y="823977"/>
                </a:lnTo>
                <a:lnTo>
                  <a:pt x="3909450" y="823977"/>
                </a:lnTo>
                <a:lnTo>
                  <a:pt x="3929151" y="820000"/>
                </a:lnTo>
                <a:lnTo>
                  <a:pt x="3945238" y="809153"/>
                </a:lnTo>
                <a:lnTo>
                  <a:pt x="3956084" y="793066"/>
                </a:lnTo>
                <a:lnTo>
                  <a:pt x="3960061" y="773366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9826" y="1774487"/>
            <a:ext cx="1961514" cy="66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ID: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 spc="-50" i="1">
                <a:latin typeface="Arial"/>
                <a:cs typeface="Arial"/>
              </a:rPr>
              <a:t>GEN26-</a:t>
            </a:r>
            <a:r>
              <a:rPr dirty="0" sz="1000" spc="-45" i="1">
                <a:latin typeface="Arial"/>
                <a:cs typeface="Arial"/>
              </a:rPr>
              <a:t>A0H-</a:t>
            </a:r>
            <a:r>
              <a:rPr dirty="0" sz="1000" spc="-20" i="1">
                <a:latin typeface="Arial"/>
                <a:cs typeface="Arial"/>
              </a:rPr>
              <a:t>I216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60">
                <a:latin typeface="Arial"/>
                <a:cs typeface="Arial"/>
              </a:rPr>
              <a:t>Power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Rangers:</a:t>
            </a:r>
            <a:r>
              <a:rPr dirty="0" sz="1000" spc="110">
                <a:latin typeface="Arial"/>
                <a:cs typeface="Arial"/>
              </a:rPr>
              <a:t> </a:t>
            </a:r>
            <a:r>
              <a:rPr dirty="0" sz="1000" spc="-40" i="1">
                <a:latin typeface="Arial"/>
                <a:cs typeface="Arial"/>
              </a:rPr>
              <a:t>POWER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50" i="1">
                <a:latin typeface="Arial"/>
                <a:cs typeface="Arial"/>
              </a:rPr>
              <a:t>RANGERS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20">
                <a:latin typeface="Arial"/>
                <a:cs typeface="Arial"/>
              </a:rPr>
              <a:t>Domain:</a:t>
            </a:r>
            <a:r>
              <a:rPr dirty="0" sz="1000" spc="95">
                <a:latin typeface="Arial"/>
                <a:cs typeface="Arial"/>
              </a:rPr>
              <a:t> </a:t>
            </a:r>
            <a:r>
              <a:rPr dirty="0" sz="1000" spc="-25" i="1">
                <a:latin typeface="Arial"/>
                <a:cs typeface="Arial"/>
              </a:rPr>
              <a:t>Domain </a:t>
            </a:r>
            <a:r>
              <a:rPr dirty="0" sz="1000" spc="-50" i="1"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974" y="1697313"/>
            <a:ext cx="38100" cy="829310"/>
          </a:xfrm>
          <a:custGeom>
            <a:avLst/>
            <a:gdLst/>
            <a:ahLst/>
            <a:cxnLst/>
            <a:rect l="l" t="t" r="r" b="b"/>
            <a:pathLst>
              <a:path w="38100" h="82931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810059"/>
                </a:lnTo>
                <a:lnTo>
                  <a:pt x="1491" y="817446"/>
                </a:lnTo>
                <a:lnTo>
                  <a:pt x="5558" y="823479"/>
                </a:lnTo>
                <a:lnTo>
                  <a:pt x="11591" y="827546"/>
                </a:lnTo>
                <a:lnTo>
                  <a:pt x="18979" y="829038"/>
                </a:lnTo>
                <a:lnTo>
                  <a:pt x="26366" y="827546"/>
                </a:lnTo>
                <a:lnTo>
                  <a:pt x="32399" y="823479"/>
                </a:lnTo>
                <a:lnTo>
                  <a:pt x="36466" y="817446"/>
                </a:lnTo>
                <a:lnTo>
                  <a:pt x="37958" y="810059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1302" y="2716944"/>
            <a:ext cx="25393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</a:rPr>
              <a:t>Amrita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Vishwa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Vidyapeetham,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Coimbatore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Campus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879" y="2716944"/>
            <a:ext cx="12934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Arial Black"/>
                <a:cs typeface="Arial Black"/>
              </a:rPr>
              <a:t>Date: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11th</a:t>
            </a:r>
            <a:r>
              <a:rPr dirty="0" sz="900" spc="-10">
                <a:latin typeface="Arial"/>
                <a:cs typeface="Arial"/>
              </a:rPr>
              <a:t> October </a:t>
            </a:r>
            <a:r>
              <a:rPr dirty="0" sz="900" spc="-20"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Presentation</a:t>
            </a:r>
            <a:r>
              <a:rPr dirty="0" sz="1100" spc="120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Outline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Statement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Understanding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Existing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6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Gaps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&amp;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4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Challenges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Our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Technical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Approach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Innovation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&amp;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Uniqueness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305" algn="l"/>
              </a:tabLst>
            </a:pPr>
            <a:r>
              <a:rPr dirty="0" sz="900" spc="-2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Feasibility</a:t>
            </a:r>
            <a:r>
              <a:rPr dirty="0" sz="900" spc="5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&amp;</a:t>
            </a:r>
            <a:r>
              <a:rPr dirty="0" sz="900" spc="5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Scalability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Cost 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for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 Product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305" algn="l"/>
              </a:tabLst>
            </a:pPr>
            <a:r>
              <a:rPr dirty="0" sz="900" spc="-55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Use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Cases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Impacts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and</a:t>
            </a:r>
            <a:r>
              <a:rPr dirty="0" sz="900" spc="-3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Benefits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2090" algn="l"/>
              </a:tabLst>
            </a:pP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Sustainable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Development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Goals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Individual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Member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Contribution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Statement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1177683"/>
            <a:ext cx="3810000" cy="933450"/>
          </a:xfrm>
          <a:custGeom>
            <a:avLst/>
            <a:gdLst/>
            <a:ahLst/>
            <a:cxnLst/>
            <a:rect l="l" t="t" r="r" b="b"/>
            <a:pathLst>
              <a:path w="3810000" h="933450">
                <a:moveTo>
                  <a:pt x="3809657" y="44424"/>
                </a:moveTo>
                <a:lnTo>
                  <a:pt x="3808361" y="44424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882091"/>
                </a:lnTo>
                <a:lnTo>
                  <a:pt x="4013" y="901827"/>
                </a:lnTo>
                <a:lnTo>
                  <a:pt x="14922" y="917981"/>
                </a:lnTo>
                <a:lnTo>
                  <a:pt x="31076" y="928890"/>
                </a:lnTo>
                <a:lnTo>
                  <a:pt x="50812" y="932903"/>
                </a:lnTo>
                <a:lnTo>
                  <a:pt x="3758857" y="932903"/>
                </a:lnTo>
                <a:lnTo>
                  <a:pt x="3778580" y="928890"/>
                </a:lnTo>
                <a:lnTo>
                  <a:pt x="3794734" y="917981"/>
                </a:lnTo>
                <a:lnTo>
                  <a:pt x="3805656" y="901827"/>
                </a:lnTo>
                <a:lnTo>
                  <a:pt x="3809657" y="882091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7299" y="1307405"/>
            <a:ext cx="3381375" cy="64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waste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miss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opportunities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 </a:t>
            </a:r>
            <a:r>
              <a:rPr dirty="0" sz="900" spc="-60">
                <a:latin typeface="Arial"/>
                <a:cs typeface="Arial"/>
              </a:rPr>
              <a:t>use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facilities </a:t>
            </a:r>
            <a:r>
              <a:rPr dirty="0" sz="900" spc="-55">
                <a:latin typeface="Arial"/>
                <a:cs typeface="Arial"/>
              </a:rPr>
              <a:t>because</a:t>
            </a:r>
            <a:r>
              <a:rPr dirty="0" sz="900">
                <a:latin typeface="Arial"/>
                <a:cs typeface="Arial"/>
              </a:rPr>
              <a:t> 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lack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centralized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reliable,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real-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way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discover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resources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such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as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classrooms,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laboratories,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study </a:t>
            </a:r>
            <a:r>
              <a:rPr dirty="0" sz="900" spc="-70">
                <a:latin typeface="Arial"/>
                <a:cs typeface="Arial"/>
              </a:rPr>
              <a:t>spaces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 </a:t>
            </a:r>
            <a:r>
              <a:rPr dirty="0" sz="900">
                <a:latin typeface="Arial"/>
                <a:cs typeface="Arial"/>
              </a:rPr>
              <a:t>other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Understanding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00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87098"/>
            <a:ext cx="3803650" cy="167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034">
              <a:lnSpc>
                <a:spcPct val="113100"/>
              </a:lnSpc>
              <a:spcBef>
                <a:spcPts val="100"/>
              </a:spcBef>
            </a:pPr>
            <a:r>
              <a:rPr dirty="0" sz="900" spc="-40">
                <a:latin typeface="Arial"/>
                <a:cs typeface="Arial"/>
              </a:rPr>
              <a:t>College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who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55">
                <a:latin typeface="Arial"/>
                <a:cs typeface="Arial"/>
              </a:rPr>
              <a:t>need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available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classrooms,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project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rooms,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 spc="-10">
                <a:latin typeface="Arial"/>
                <a:cs typeface="Arial"/>
              </a:rPr>
              <a:t>laboratory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computers.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working</a:t>
            </a:r>
            <a:r>
              <a:rPr dirty="0" sz="900">
                <a:latin typeface="Arial"/>
                <a:cs typeface="Arial"/>
              </a:rPr>
              <a:t> on </a:t>
            </a:r>
            <a:r>
              <a:rPr dirty="0" sz="900" spc="-45">
                <a:latin typeface="Arial"/>
                <a:cs typeface="Arial"/>
              </a:rPr>
              <a:t>assignments,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group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projects,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 spc="-10">
                <a:latin typeface="Arial"/>
                <a:cs typeface="Arial"/>
              </a:rPr>
              <a:t>practical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tasks.</a:t>
            </a:r>
            <a:endParaRPr sz="900">
              <a:latin typeface="Arial"/>
              <a:cs typeface="Arial"/>
            </a:endParaRPr>
          </a:p>
          <a:p>
            <a:pPr marL="12700" marR="245745">
              <a:lnSpc>
                <a:spcPct val="113100"/>
              </a:lnSpc>
              <a:spcBef>
                <a:spcPts val="994"/>
              </a:spcBef>
            </a:pPr>
            <a:r>
              <a:rPr dirty="0" sz="900">
                <a:latin typeface="Arial"/>
                <a:cs typeface="Arial"/>
              </a:rPr>
              <a:t>No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centralized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platform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check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resource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availability.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Lack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real-</a:t>
            </a:r>
            <a:r>
              <a:rPr dirty="0" sz="900" spc="-10">
                <a:latin typeface="Arial"/>
                <a:cs typeface="Arial"/>
              </a:rPr>
              <a:t>time, </a:t>
            </a:r>
            <a:r>
              <a:rPr dirty="0" sz="900" spc="-25">
                <a:latin typeface="Arial"/>
                <a:cs typeface="Arial"/>
              </a:rPr>
              <a:t>reliable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information.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Dependence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 </a:t>
            </a:r>
            <a:r>
              <a:rPr dirty="0" sz="900" spc="-20">
                <a:latin typeface="Arial"/>
                <a:cs typeface="Arial"/>
              </a:rPr>
              <a:t>manual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checking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 spc="-10">
                <a:latin typeface="Arial"/>
                <a:cs typeface="Arial"/>
              </a:rPr>
              <a:t>communication.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unable</a:t>
            </a:r>
            <a:r>
              <a:rPr dirty="0" sz="900">
                <a:latin typeface="Arial"/>
                <a:cs typeface="Arial"/>
              </a:rPr>
              <a:t> to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save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find </a:t>
            </a:r>
            <a:r>
              <a:rPr dirty="0" sz="900" spc="-30">
                <a:latin typeface="Arial"/>
                <a:cs typeface="Arial"/>
              </a:rPr>
              <a:t>available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facilities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easily.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College administration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cannot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identify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overcrowded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underused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resources.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Faculty and </a:t>
            </a:r>
            <a:r>
              <a:rPr dirty="0" sz="900">
                <a:latin typeface="Arial"/>
                <a:cs typeface="Arial"/>
              </a:rPr>
              <a:t>staff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spend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more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helping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 spc="-10">
                <a:latin typeface="Arial"/>
                <a:cs typeface="Arial"/>
              </a:rPr>
              <a:t> locate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facilities.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5720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640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Existing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70">
                <a:latin typeface="Arial Black"/>
                <a:cs typeface="Arial Black"/>
              </a:rPr>
              <a:t>Gaps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30">
                <a:latin typeface="Arial Black"/>
                <a:cs typeface="Arial Black"/>
              </a:rPr>
              <a:t>Challenges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662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1091839"/>
            <a:ext cx="3820795" cy="1191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Manual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checking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wastes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-10">
                <a:latin typeface="Arial"/>
                <a:cs typeface="Arial"/>
              </a:rPr>
              <a:t> and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requires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visiting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different</a:t>
            </a:r>
            <a:r>
              <a:rPr dirty="0" sz="900" spc="-10">
                <a:latin typeface="Arial"/>
                <a:cs typeface="Arial"/>
              </a:rPr>
              <a:t> locations.</a:t>
            </a:r>
            <a:endParaRPr sz="900">
              <a:latin typeface="Arial"/>
              <a:cs typeface="Arial"/>
            </a:endParaRPr>
          </a:p>
          <a:p>
            <a:pPr marL="12700" marR="253365">
              <a:lnSpc>
                <a:spcPct val="113100"/>
              </a:lnSpc>
              <a:spcBef>
                <a:spcPts val="994"/>
              </a:spcBef>
            </a:pPr>
            <a:r>
              <a:rPr dirty="0" sz="900" spc="-10">
                <a:latin typeface="Arial"/>
                <a:cs typeface="Arial"/>
              </a:rPr>
              <a:t>Timetables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show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scheduled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activities but </a:t>
            </a:r>
            <a:r>
              <a:rPr dirty="0" sz="900" spc="-20">
                <a:latin typeface="Arial"/>
                <a:cs typeface="Arial"/>
              </a:rPr>
              <a:t>may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not reflect actual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resource </a:t>
            </a:r>
            <a:r>
              <a:rPr dirty="0" sz="900" spc="-10">
                <a:latin typeface="Arial"/>
                <a:cs typeface="Arial"/>
              </a:rPr>
              <a:t>availability.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ct val="113100"/>
              </a:lnSpc>
              <a:spcBef>
                <a:spcPts val="1000"/>
              </a:spcBef>
            </a:pPr>
            <a:r>
              <a:rPr dirty="0" sz="900">
                <a:latin typeface="Arial"/>
                <a:cs typeface="Arial"/>
              </a:rPr>
              <a:t>No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centralized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platform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our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college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discover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available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campus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resources. </a:t>
            </a:r>
            <a:r>
              <a:rPr dirty="0" sz="900">
                <a:latin typeface="Arial"/>
                <a:cs typeface="Arial"/>
              </a:rPr>
              <a:t>Lack of </a:t>
            </a:r>
            <a:r>
              <a:rPr dirty="0" sz="900" spc="-20">
                <a:latin typeface="Arial"/>
                <a:cs typeface="Arial"/>
              </a:rPr>
              <a:t>reliable,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up-to-</a:t>
            </a:r>
            <a:r>
              <a:rPr dirty="0" sz="900">
                <a:latin typeface="Arial"/>
                <a:cs typeface="Arial"/>
              </a:rPr>
              <a:t>date </a:t>
            </a:r>
            <a:r>
              <a:rPr dirty="0" sz="900" spc="-10">
                <a:latin typeface="Arial"/>
                <a:cs typeface="Arial"/>
              </a:rPr>
              <a:t>information</a:t>
            </a:r>
            <a:r>
              <a:rPr dirty="0" sz="900">
                <a:latin typeface="Arial"/>
                <a:cs typeface="Arial"/>
              </a:rPr>
              <a:t> about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actual availability.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Difficulty </a:t>
            </a:r>
            <a:r>
              <a:rPr dirty="0" sz="900" spc="-25">
                <a:latin typeface="Arial"/>
                <a:cs typeface="Arial"/>
              </a:rPr>
              <a:t>in </a:t>
            </a:r>
            <a:r>
              <a:rPr dirty="0" sz="900">
                <a:latin typeface="Arial"/>
                <a:cs typeface="Arial"/>
              </a:rPr>
              <a:t>finding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suitable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alternatives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identifying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underutilized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facilities.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44791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88478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Arial Black"/>
                <a:cs typeface="Arial Black"/>
              </a:rPr>
              <a:t>Our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Proposed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Solution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6076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514709"/>
            <a:ext cx="3806825" cy="2606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7475">
              <a:lnSpc>
                <a:spcPct val="1131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centralized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platform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helps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faculty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find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list </a:t>
            </a:r>
            <a:r>
              <a:rPr dirty="0" sz="900" spc="-50">
                <a:latin typeface="Arial"/>
                <a:cs typeface="Arial"/>
              </a:rPr>
              <a:t>resources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are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actually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usable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using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official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schedules.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solution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works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 </a:t>
            </a:r>
            <a:r>
              <a:rPr dirty="0" sz="900" spc="-30">
                <a:latin typeface="Arial"/>
                <a:cs typeface="Arial"/>
              </a:rPr>
              <a:t>deploying</a:t>
            </a:r>
            <a:r>
              <a:rPr dirty="0" sz="900">
                <a:latin typeface="Arial"/>
                <a:cs typeface="Arial"/>
              </a:rPr>
              <a:t> an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application</a:t>
            </a:r>
            <a:r>
              <a:rPr dirty="0" sz="900">
                <a:latin typeface="Arial"/>
                <a:cs typeface="Arial"/>
              </a:rPr>
              <a:t> that </a:t>
            </a:r>
            <a:r>
              <a:rPr dirty="0" sz="900" spc="-20">
                <a:latin typeface="Arial"/>
                <a:cs typeface="Arial"/>
              </a:rPr>
              <a:t>integrates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directly </a:t>
            </a:r>
            <a:r>
              <a:rPr dirty="0" sz="900" spc="-20">
                <a:latin typeface="Arial"/>
                <a:cs typeface="Arial"/>
              </a:rPr>
              <a:t>with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intranet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track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timetable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changes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academic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schedules.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maintain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accurate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records,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platform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provides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full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75">
                <a:latin typeface="Arial"/>
                <a:cs typeface="Arial"/>
              </a:rPr>
              <a:t>access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the </a:t>
            </a:r>
            <a:r>
              <a:rPr dirty="0" sz="900" spc="-10">
                <a:latin typeface="Arial"/>
                <a:cs typeface="Arial"/>
              </a:rPr>
              <a:t>administration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limited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75">
                <a:latin typeface="Arial"/>
                <a:cs typeface="Arial"/>
              </a:rPr>
              <a:t>access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class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representatives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update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cancelled </a:t>
            </a:r>
            <a:r>
              <a:rPr dirty="0" sz="900" spc="-70">
                <a:latin typeface="Arial"/>
                <a:cs typeface="Arial"/>
              </a:rPr>
              <a:t>classes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timetable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changes.</a:t>
            </a:r>
            <a:r>
              <a:rPr dirty="0" sz="900" spc="114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synchronized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data,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can </a:t>
            </a:r>
            <a:r>
              <a:rPr dirty="0" sz="900" spc="-30">
                <a:latin typeface="Arial"/>
                <a:cs typeface="Arial"/>
              </a:rPr>
              <a:t>check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ahead</a:t>
            </a:r>
            <a:r>
              <a:rPr dirty="0" sz="900">
                <a:latin typeface="Arial"/>
                <a:cs typeface="Arial"/>
              </a:rPr>
              <a:t> to </a:t>
            </a:r>
            <a:r>
              <a:rPr dirty="0" sz="900" spc="-10">
                <a:latin typeface="Arial"/>
                <a:cs typeface="Arial"/>
              </a:rPr>
              <a:t>locate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empty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classrooms,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study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areas,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specialized </a:t>
            </a:r>
            <a:r>
              <a:rPr dirty="0" sz="900">
                <a:latin typeface="Arial"/>
                <a:cs typeface="Arial"/>
              </a:rPr>
              <a:t>facilities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like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3D-</a:t>
            </a:r>
            <a:r>
              <a:rPr dirty="0" sz="900">
                <a:latin typeface="Arial"/>
                <a:cs typeface="Arial"/>
              </a:rPr>
              <a:t>printing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labs,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supercomputer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room,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 </a:t>
            </a:r>
            <a:r>
              <a:rPr dirty="0" sz="900" spc="-30">
                <a:latin typeface="Arial"/>
                <a:cs typeface="Arial"/>
              </a:rPr>
              <a:t>CISCO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labs</a:t>
            </a:r>
            <a:r>
              <a:rPr dirty="0" sz="900" spc="-10">
                <a:latin typeface="Arial"/>
                <a:cs typeface="Arial"/>
              </a:rPr>
              <a:t> while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verifying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required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75">
                <a:latin typeface="Arial"/>
                <a:cs typeface="Arial"/>
              </a:rPr>
              <a:t>access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permissions.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Concurrently,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app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monitors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facilities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such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as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library,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gyms,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department,</a:t>
            </a:r>
            <a:r>
              <a:rPr dirty="0" sz="900" spc="-10">
                <a:latin typeface="Arial"/>
                <a:cs typeface="Arial"/>
              </a:rPr>
              <a:t> and swimming </a:t>
            </a:r>
            <a:r>
              <a:rPr dirty="0" sz="900">
                <a:latin typeface="Arial"/>
                <a:cs typeface="Arial"/>
              </a:rPr>
              <a:t>pool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show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whether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these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spaces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are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currently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overcrowded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or</a:t>
            </a:r>
            <a:r>
              <a:rPr dirty="0" sz="900" spc="5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open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 </a:t>
            </a:r>
            <a:r>
              <a:rPr dirty="0" sz="900" spc="-20"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  <a:p>
            <a:pPr marL="12700" marR="134620">
              <a:lnSpc>
                <a:spcPct val="113100"/>
              </a:lnSpc>
              <a:spcBef>
                <a:spcPts val="1000"/>
              </a:spcBef>
            </a:pPr>
            <a:r>
              <a:rPr dirty="0" sz="900">
                <a:latin typeface="Arial"/>
                <a:cs typeface="Arial"/>
              </a:rPr>
              <a:t>Our</a:t>
            </a:r>
            <a:r>
              <a:rPr dirty="0" sz="900" spc="-10">
                <a:latin typeface="Arial"/>
                <a:cs typeface="Arial"/>
              </a:rPr>
              <a:t> app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helps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users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find</a:t>
            </a:r>
            <a:r>
              <a:rPr dirty="0" sz="900" spc="-10">
                <a:latin typeface="Arial"/>
                <a:cs typeface="Arial"/>
              </a:rPr>
              <a:t> 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book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available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facilities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easily,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saving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improving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resource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utilization.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04447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8778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5">
                <a:latin typeface="Arial Black"/>
                <a:cs typeface="Arial Black"/>
              </a:rPr>
              <a:t>Technical</a:t>
            </a:r>
            <a:r>
              <a:rPr dirty="0" sz="1100" spc="80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Approach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9796" y="489069"/>
            <a:ext cx="1968276" cy="131218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73189" y="2315184"/>
            <a:ext cx="3881754" cy="923290"/>
          </a:xfrm>
          <a:custGeom>
            <a:avLst/>
            <a:gdLst/>
            <a:ahLst/>
            <a:cxnLst/>
            <a:rect l="l" t="t" r="r" b="b"/>
            <a:pathLst>
              <a:path w="3881754" h="923289">
                <a:moveTo>
                  <a:pt x="3881666" y="44437"/>
                </a:moveTo>
                <a:lnTo>
                  <a:pt x="3880370" y="44437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872464"/>
                </a:lnTo>
                <a:lnTo>
                  <a:pt x="4013" y="892200"/>
                </a:lnTo>
                <a:lnTo>
                  <a:pt x="14922" y="908354"/>
                </a:lnTo>
                <a:lnTo>
                  <a:pt x="31076" y="919264"/>
                </a:lnTo>
                <a:lnTo>
                  <a:pt x="50812" y="923277"/>
                </a:lnTo>
                <a:lnTo>
                  <a:pt x="3830866" y="923277"/>
                </a:lnTo>
                <a:lnTo>
                  <a:pt x="3850589" y="919264"/>
                </a:lnTo>
                <a:lnTo>
                  <a:pt x="3866743" y="908354"/>
                </a:lnTo>
                <a:lnTo>
                  <a:pt x="3877653" y="892200"/>
                </a:lnTo>
                <a:lnTo>
                  <a:pt x="3881666" y="872464"/>
                </a:lnTo>
                <a:lnTo>
                  <a:pt x="3881666" y="82384"/>
                </a:lnTo>
                <a:lnTo>
                  <a:pt x="3881666" y="50800"/>
                </a:lnTo>
                <a:lnTo>
                  <a:pt x="3881666" y="44437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1294" y="2038691"/>
            <a:ext cx="3107055" cy="805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0565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[Explain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how the </a:t>
            </a:r>
            <a:r>
              <a:rPr dirty="0" sz="800" spc="-20">
                <a:latin typeface="Arial"/>
                <a:cs typeface="Arial"/>
              </a:rPr>
              <a:t>system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components</a:t>
            </a:r>
            <a:r>
              <a:rPr dirty="0" sz="800">
                <a:latin typeface="Arial"/>
                <a:cs typeface="Arial"/>
              </a:rPr>
              <a:t> work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together.]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spc="-114">
                <a:latin typeface="Arial Black"/>
                <a:cs typeface="Arial Black"/>
              </a:rPr>
              <a:t>Tech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Stack</a:t>
            </a:r>
            <a:endParaRPr sz="800">
              <a:latin typeface="Arial Black"/>
              <a:cs typeface="Arial Black"/>
            </a:endParaRPr>
          </a:p>
          <a:p>
            <a:pPr marL="12700" marR="911860">
              <a:lnSpc>
                <a:spcPct val="104600"/>
              </a:lnSpc>
              <a:spcBef>
                <a:spcPts val="85"/>
              </a:spcBef>
              <a:tabLst>
                <a:tab pos="1273175" algn="l"/>
              </a:tabLst>
            </a:pPr>
            <a:r>
              <a:rPr dirty="0" sz="800" spc="-75">
                <a:latin typeface="Arial Black"/>
                <a:cs typeface="Arial Black"/>
              </a:rPr>
              <a:t>Frontend:</a:t>
            </a:r>
            <a:r>
              <a:rPr dirty="0" sz="800" spc="19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[HTML,</a:t>
            </a:r>
            <a:r>
              <a:rPr dirty="0" sz="800" spc="1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CSS,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85">
                <a:latin typeface="Arial Black"/>
                <a:cs typeface="Arial Black"/>
              </a:rPr>
              <a:t>Database:</a:t>
            </a:r>
            <a:r>
              <a:rPr dirty="0" sz="800" spc="35">
                <a:latin typeface="Arial Black"/>
                <a:cs typeface="Arial Black"/>
              </a:rPr>
              <a:t> </a:t>
            </a:r>
            <a:r>
              <a:rPr dirty="0" sz="800" spc="-10">
                <a:latin typeface="Arial"/>
                <a:cs typeface="Arial"/>
              </a:rPr>
              <a:t>[MySQL] JavaScript]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294" y="2824301"/>
            <a:ext cx="448945" cy="274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0">
                <a:latin typeface="Arial Black"/>
                <a:cs typeface="Arial Black"/>
              </a:rPr>
              <a:t>Backend:</a:t>
            </a:r>
            <a:endParaRPr sz="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00" spc="-10">
                <a:latin typeface="Arial"/>
                <a:cs typeface="Arial"/>
              </a:rPr>
              <a:t>(Flask)]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6499" y="2824301"/>
            <a:ext cx="2748280" cy="2749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517525" marR="5080" indent="-505459">
              <a:lnSpc>
                <a:spcPct val="104600"/>
              </a:lnSpc>
              <a:spcBef>
                <a:spcPts val="50"/>
              </a:spcBef>
              <a:tabLst>
                <a:tab pos="517525" algn="l"/>
              </a:tabLst>
            </a:pPr>
            <a:r>
              <a:rPr dirty="0" sz="800" spc="-10">
                <a:latin typeface="Arial"/>
                <a:cs typeface="Arial"/>
              </a:rPr>
              <a:t>[Python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>
                <a:latin typeface="Arial Black"/>
                <a:cs typeface="Arial Black"/>
              </a:rPr>
              <a:t>AI/ML, </a:t>
            </a:r>
            <a:r>
              <a:rPr dirty="0" sz="800" spc="-65">
                <a:latin typeface="Arial Black"/>
                <a:cs typeface="Arial Black"/>
              </a:rPr>
              <a:t>APIs,</a:t>
            </a:r>
            <a:r>
              <a:rPr dirty="0" sz="800" spc="10">
                <a:latin typeface="Arial Black"/>
                <a:cs typeface="Arial Black"/>
              </a:rPr>
              <a:t> </a:t>
            </a:r>
            <a:r>
              <a:rPr dirty="0" sz="800" spc="-100">
                <a:latin typeface="Arial Black"/>
                <a:cs typeface="Arial Black"/>
              </a:rPr>
              <a:t>or</a:t>
            </a:r>
            <a:r>
              <a:rPr dirty="0" sz="800" spc="5">
                <a:latin typeface="Arial Black"/>
                <a:cs typeface="Arial Black"/>
              </a:rPr>
              <a:t> </a:t>
            </a:r>
            <a:r>
              <a:rPr dirty="0" sz="800" spc="-100">
                <a:latin typeface="Arial Black"/>
                <a:cs typeface="Arial Black"/>
              </a:rPr>
              <a:t>Hardware:</a:t>
            </a:r>
            <a:r>
              <a:rPr dirty="0" sz="800" spc="10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[REST API for </a:t>
            </a:r>
            <a:r>
              <a:rPr dirty="0" sz="800" spc="-20">
                <a:latin typeface="Arial"/>
                <a:cs typeface="Arial"/>
              </a:rPr>
              <a:t>com-</a:t>
            </a:r>
            <a:r>
              <a:rPr dirty="0" sz="800">
                <a:latin typeface="Arial"/>
                <a:cs typeface="Arial"/>
              </a:rPr>
              <a:t>munication </a:t>
            </a:r>
            <a:r>
              <a:rPr dirty="0" sz="800" spc="-25">
                <a:latin typeface="Arial"/>
                <a:cs typeface="Arial"/>
              </a:rPr>
              <a:t>between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frontend and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backend]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latin typeface="Arial Black"/>
                <a:cs typeface="Arial Black"/>
              </a:rPr>
              <a:t>Innovation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Uniqueness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420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479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pc="-10"/>
              <a:t>Unlike</a:t>
            </a:r>
            <a:r>
              <a:rPr dirty="0" spc="10"/>
              <a:t> </a:t>
            </a:r>
            <a:r>
              <a:rPr dirty="0"/>
              <a:t>traditional</a:t>
            </a:r>
            <a:r>
              <a:rPr dirty="0" spc="10"/>
              <a:t> </a:t>
            </a:r>
            <a:r>
              <a:rPr dirty="0" spc="-45"/>
              <a:t>systems,</a:t>
            </a:r>
            <a:r>
              <a:rPr dirty="0" spc="10"/>
              <a:t> </a:t>
            </a:r>
            <a:r>
              <a:rPr dirty="0"/>
              <a:t>our</a:t>
            </a:r>
            <a:r>
              <a:rPr dirty="0" spc="15"/>
              <a:t> </a:t>
            </a:r>
            <a:r>
              <a:rPr dirty="0" spc="-10"/>
              <a:t>app</a:t>
            </a:r>
            <a:r>
              <a:rPr dirty="0" spc="10"/>
              <a:t> </a:t>
            </a:r>
            <a:r>
              <a:rPr dirty="0" spc="-35"/>
              <a:t>provides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-30"/>
              <a:t>single</a:t>
            </a:r>
            <a:r>
              <a:rPr dirty="0" spc="15"/>
              <a:t> </a:t>
            </a:r>
            <a:r>
              <a:rPr dirty="0"/>
              <a:t>platform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0"/>
              <a:t>check availability,</a:t>
            </a:r>
            <a:r>
              <a:rPr dirty="0" spc="-20"/>
              <a:t> </a:t>
            </a:r>
            <a:r>
              <a:rPr dirty="0" spc="-10"/>
              <a:t>locate,</a:t>
            </a:r>
            <a:r>
              <a:rPr dirty="0" spc="-20"/>
              <a:t> </a:t>
            </a:r>
            <a:r>
              <a:rPr dirty="0" spc="-10"/>
              <a:t>and</a:t>
            </a:r>
            <a:r>
              <a:rPr dirty="0" spc="-20"/>
              <a:t> </a:t>
            </a:r>
            <a:r>
              <a:rPr dirty="0"/>
              <a:t>book</a:t>
            </a:r>
            <a:r>
              <a:rPr dirty="0" spc="-20"/>
              <a:t> </a:t>
            </a:r>
            <a:r>
              <a:rPr dirty="0"/>
              <a:t>different</a:t>
            </a:r>
            <a:r>
              <a:rPr dirty="0" spc="-20"/>
              <a:t> </a:t>
            </a:r>
            <a:r>
              <a:rPr dirty="0" spc="-35"/>
              <a:t>campus</a:t>
            </a:r>
            <a:r>
              <a:rPr dirty="0" spc="-20"/>
              <a:t> </a:t>
            </a:r>
            <a:r>
              <a:rPr dirty="0" spc="-10"/>
              <a:t>facilities,</a:t>
            </a:r>
            <a:r>
              <a:rPr dirty="0" spc="-20"/>
              <a:t> </a:t>
            </a:r>
            <a:r>
              <a:rPr dirty="0" spc="-10"/>
              <a:t>including</a:t>
            </a:r>
            <a:r>
              <a:rPr dirty="0" spc="-20"/>
              <a:t> classrooms, labs,</a:t>
            </a:r>
            <a:r>
              <a:rPr dirty="0" spc="-5"/>
              <a:t> </a:t>
            </a:r>
            <a:r>
              <a:rPr dirty="0"/>
              <a:t>3D</a:t>
            </a:r>
            <a:r>
              <a:rPr dirty="0" spc="-5"/>
              <a:t> </a:t>
            </a:r>
            <a:r>
              <a:rPr dirty="0" spc="-10"/>
              <a:t>printers,</a:t>
            </a:r>
            <a:r>
              <a:rPr dirty="0" spc="-5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 spc="-25"/>
              <a:t>supercomputer</a:t>
            </a:r>
            <a:r>
              <a:rPr dirty="0"/>
              <a:t> </a:t>
            </a:r>
            <a:r>
              <a:rPr dirty="0" spc="-10"/>
              <a:t>rooms.</a:t>
            </a:r>
          </a:p>
          <a:p>
            <a:pPr marL="12700" marR="5715">
              <a:lnSpc>
                <a:spcPct val="113100"/>
              </a:lnSpc>
              <a:spcBef>
                <a:spcPts val="994"/>
              </a:spcBef>
            </a:pPr>
            <a:r>
              <a:rPr dirty="0"/>
              <a:t>This</a:t>
            </a:r>
            <a:r>
              <a:rPr dirty="0" spc="30"/>
              <a:t> </a:t>
            </a:r>
            <a:r>
              <a:rPr dirty="0" spc="-35"/>
              <a:t>approach</a:t>
            </a:r>
            <a:r>
              <a:rPr dirty="0" spc="30"/>
              <a:t> </a:t>
            </a:r>
            <a:r>
              <a:rPr dirty="0"/>
              <a:t>is</a:t>
            </a:r>
            <a:r>
              <a:rPr dirty="0" spc="30"/>
              <a:t> </a:t>
            </a:r>
            <a:r>
              <a:rPr dirty="0" spc="-20"/>
              <a:t>suited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problem</a:t>
            </a:r>
            <a:r>
              <a:rPr dirty="0" spc="35"/>
              <a:t> </a:t>
            </a:r>
            <a:r>
              <a:rPr dirty="0" spc="-55"/>
              <a:t>because</a:t>
            </a:r>
            <a:r>
              <a:rPr dirty="0" spc="30"/>
              <a:t> </a:t>
            </a:r>
            <a:r>
              <a:rPr dirty="0"/>
              <a:t>it</a:t>
            </a:r>
            <a:r>
              <a:rPr dirty="0" spc="30"/>
              <a:t> </a:t>
            </a:r>
            <a:r>
              <a:rPr dirty="0" spc="-30"/>
              <a:t>centralizes</a:t>
            </a:r>
            <a:r>
              <a:rPr dirty="0" spc="30"/>
              <a:t> </a:t>
            </a:r>
            <a:r>
              <a:rPr dirty="0" spc="-10"/>
              <a:t>facility information,</a:t>
            </a:r>
            <a:r>
              <a:rPr dirty="0"/>
              <a:t> </a:t>
            </a:r>
            <a:r>
              <a:rPr dirty="0" spc="-45"/>
              <a:t>reduces</a:t>
            </a:r>
            <a:r>
              <a:rPr dirty="0" spc="5"/>
              <a:t> </a:t>
            </a:r>
            <a:r>
              <a:rPr dirty="0" spc="-20"/>
              <a:t>manual</a:t>
            </a:r>
            <a:r>
              <a:rPr dirty="0" spc="5"/>
              <a:t> </a:t>
            </a:r>
            <a:r>
              <a:rPr dirty="0" spc="-40"/>
              <a:t>searching</a:t>
            </a:r>
            <a:r>
              <a:rPr dirty="0" spc="5"/>
              <a:t> </a:t>
            </a:r>
            <a:r>
              <a:rPr dirty="0" spc="-10"/>
              <a:t>and</a:t>
            </a:r>
            <a:r>
              <a:rPr dirty="0" spc="5"/>
              <a:t> </a:t>
            </a:r>
            <a:r>
              <a:rPr dirty="0" spc="-25"/>
              <a:t>confusion,</a:t>
            </a:r>
            <a:r>
              <a:rPr dirty="0" spc="5"/>
              <a:t> </a:t>
            </a:r>
            <a:r>
              <a:rPr dirty="0" spc="-10"/>
              <a:t>and</a:t>
            </a:r>
            <a:r>
              <a:rPr dirty="0"/>
              <a:t> </a:t>
            </a:r>
            <a:r>
              <a:rPr dirty="0" spc="-35"/>
              <a:t>helps</a:t>
            </a:r>
            <a:r>
              <a:rPr dirty="0" spc="5"/>
              <a:t> </a:t>
            </a:r>
            <a:r>
              <a:rPr dirty="0" spc="-20"/>
              <a:t>students</a:t>
            </a:r>
            <a:r>
              <a:rPr dirty="0" spc="5"/>
              <a:t> </a:t>
            </a:r>
            <a:r>
              <a:rPr dirty="0" spc="-25"/>
              <a:t>and </a:t>
            </a:r>
            <a:r>
              <a:rPr dirty="0"/>
              <a:t>staff </a:t>
            </a:r>
            <a:r>
              <a:rPr dirty="0" spc="-75"/>
              <a:t>access</a:t>
            </a:r>
            <a:r>
              <a:rPr dirty="0" spc="15"/>
              <a:t> </a:t>
            </a:r>
            <a:r>
              <a:rPr dirty="0" spc="-30"/>
              <a:t>available</a:t>
            </a:r>
            <a:r>
              <a:rPr dirty="0" spc="5"/>
              <a:t> </a:t>
            </a:r>
            <a:r>
              <a:rPr dirty="0" spc="-35"/>
              <a:t>campus</a:t>
            </a:r>
            <a:r>
              <a:rPr dirty="0" spc="10"/>
              <a:t> </a:t>
            </a:r>
            <a:r>
              <a:rPr dirty="0" spc="-50"/>
              <a:t>resources</a:t>
            </a:r>
            <a:r>
              <a:rPr dirty="0" spc="5"/>
              <a:t> </a:t>
            </a:r>
            <a:r>
              <a:rPr dirty="0" spc="-10"/>
              <a:t>quickly</a:t>
            </a:r>
            <a:r>
              <a:rPr dirty="0" spc="10"/>
              <a:t> </a:t>
            </a:r>
            <a:r>
              <a:rPr dirty="0" spc="-10"/>
              <a:t>and</a:t>
            </a:r>
            <a:r>
              <a:rPr dirty="0" spc="5"/>
              <a:t> </a:t>
            </a:r>
            <a:r>
              <a:rPr dirty="0" spc="-10"/>
              <a:t>efficiently.</a:t>
            </a:r>
          </a:p>
          <a:p>
            <a:pPr marL="12700" marR="104775">
              <a:lnSpc>
                <a:spcPct val="113100"/>
              </a:lnSpc>
              <a:spcBef>
                <a:spcPts val="1000"/>
              </a:spcBef>
            </a:pPr>
            <a:r>
              <a:rPr dirty="0"/>
              <a:t>Our</a:t>
            </a:r>
            <a:r>
              <a:rPr dirty="0" spc="20"/>
              <a:t> </a:t>
            </a:r>
            <a:r>
              <a:rPr dirty="0" spc="-25"/>
              <a:t>key</a:t>
            </a:r>
            <a:r>
              <a:rPr dirty="0" spc="25"/>
              <a:t> </a:t>
            </a:r>
            <a:r>
              <a:rPr dirty="0" spc="-10"/>
              <a:t>differentiator</a:t>
            </a:r>
            <a:r>
              <a:rPr dirty="0" spc="25"/>
              <a:t> </a:t>
            </a:r>
            <a:r>
              <a:rPr dirty="0"/>
              <a:t>is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30"/>
              <a:t>single</a:t>
            </a:r>
            <a:r>
              <a:rPr dirty="0" spc="25"/>
              <a:t> </a:t>
            </a:r>
            <a:r>
              <a:rPr dirty="0"/>
              <a:t>platform</a:t>
            </a:r>
            <a:r>
              <a:rPr dirty="0" spc="20"/>
              <a:t> </a:t>
            </a:r>
            <a:r>
              <a:rPr dirty="0"/>
              <a:t>that</a:t>
            </a:r>
            <a:r>
              <a:rPr dirty="0" spc="25"/>
              <a:t> </a:t>
            </a:r>
            <a:r>
              <a:rPr dirty="0" spc="-40"/>
              <a:t>combines</a:t>
            </a:r>
            <a:r>
              <a:rPr dirty="0" spc="25"/>
              <a:t> </a:t>
            </a:r>
            <a:r>
              <a:rPr dirty="0"/>
              <a:t>facility</a:t>
            </a:r>
            <a:r>
              <a:rPr dirty="0" spc="20"/>
              <a:t> </a:t>
            </a:r>
            <a:r>
              <a:rPr dirty="0" spc="-10"/>
              <a:t>availability, </a:t>
            </a:r>
            <a:r>
              <a:rPr dirty="0"/>
              <a:t>location,</a:t>
            </a:r>
            <a:r>
              <a:rPr dirty="0" spc="-10"/>
              <a:t> </a:t>
            </a:r>
            <a:r>
              <a:rPr dirty="0" spc="-20"/>
              <a:t>equipment</a:t>
            </a:r>
            <a:r>
              <a:rPr dirty="0" spc="-10"/>
              <a:t> details, and</a:t>
            </a:r>
            <a:r>
              <a:rPr dirty="0" spc="-5"/>
              <a:t> </a:t>
            </a:r>
            <a:r>
              <a:rPr dirty="0" spc="-10"/>
              <a:t>booking options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entire campus.</a:t>
            </a:r>
          </a:p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2615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Feasibility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Scalability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88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95976"/>
            <a:ext cx="3787775" cy="167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4180">
              <a:lnSpc>
                <a:spcPct val="113100"/>
              </a:lnSpc>
              <a:spcBef>
                <a:spcPts val="100"/>
              </a:spcBef>
            </a:pPr>
            <a:r>
              <a:rPr dirty="0" sz="900" spc="-95">
                <a:latin typeface="Arial Black"/>
                <a:cs typeface="Arial Black"/>
              </a:rPr>
              <a:t>Feasibility: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project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technically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 financially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feasible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using </a:t>
            </a:r>
            <a:r>
              <a:rPr dirty="0" sz="900" spc="-45">
                <a:latin typeface="Arial"/>
                <a:cs typeface="Arial"/>
              </a:rPr>
              <a:t>open-</a:t>
            </a:r>
            <a:r>
              <a:rPr dirty="0" sz="900" spc="-40">
                <a:latin typeface="Arial"/>
                <a:cs typeface="Arial"/>
              </a:rPr>
              <a:t>source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technologies,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existing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infrastructure,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secure </a:t>
            </a:r>
            <a:r>
              <a:rPr dirty="0" sz="900" spc="-45">
                <a:latin typeface="Arial"/>
                <a:cs typeface="Arial"/>
              </a:rPr>
              <a:t>role-</a:t>
            </a:r>
            <a:r>
              <a:rPr dirty="0" sz="900" spc="-35">
                <a:latin typeface="Arial"/>
                <a:cs typeface="Arial"/>
              </a:rPr>
              <a:t>based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access</a:t>
            </a:r>
            <a:endParaRPr sz="900">
              <a:latin typeface="Arial"/>
              <a:cs typeface="Arial"/>
            </a:endParaRPr>
          </a:p>
          <a:p>
            <a:pPr marL="12700" marR="94615">
              <a:lnSpc>
                <a:spcPct val="113100"/>
              </a:lnSpc>
              <a:spcBef>
                <a:spcPts val="994"/>
              </a:spcBef>
            </a:pPr>
            <a:r>
              <a:rPr dirty="0" sz="900" spc="-90">
                <a:latin typeface="Arial Black"/>
                <a:cs typeface="Arial Black"/>
              </a:rPr>
              <a:t>Scalability: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modular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architecture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supports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adding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more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facilities,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labs, 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amenities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minimal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z="900" spc="-110">
                <a:latin typeface="Arial Black"/>
                <a:cs typeface="Arial Black"/>
              </a:rPr>
              <a:t>Risks:</a:t>
            </a:r>
            <a:r>
              <a:rPr dirty="0" sz="900" spc="40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Outdated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data,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incorrect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timetable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updates,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unauthorized </a:t>
            </a:r>
            <a:r>
              <a:rPr dirty="0" sz="900" spc="-60">
                <a:latin typeface="Arial"/>
                <a:cs typeface="Arial"/>
              </a:rPr>
              <a:t>access,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server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downtime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may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affect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system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reliability.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These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risks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can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be </a:t>
            </a:r>
            <a:r>
              <a:rPr dirty="0" sz="900" spc="-40">
                <a:latin typeface="Arial"/>
                <a:cs typeface="Arial"/>
              </a:rPr>
              <a:t>reduced</a:t>
            </a:r>
            <a:r>
              <a:rPr dirty="0" sz="900">
                <a:latin typeface="Arial"/>
                <a:cs typeface="Arial"/>
              </a:rPr>
              <a:t> through </a:t>
            </a:r>
            <a:r>
              <a:rPr dirty="0" sz="900" spc="-25">
                <a:latin typeface="Arial"/>
                <a:cs typeface="Arial"/>
              </a:rPr>
              <a:t>regular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updates,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secure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authentication,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backups,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proper </a:t>
            </a:r>
            <a:r>
              <a:rPr dirty="0" sz="900" spc="-75">
                <a:latin typeface="Arial"/>
                <a:cs typeface="Arial"/>
              </a:rPr>
              <a:t>access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5809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177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Arial Black"/>
                <a:cs typeface="Arial Black"/>
              </a:rPr>
              <a:t>Cost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for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Product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(Optional)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29035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1215981"/>
            <a:ext cx="3642360" cy="8807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latin typeface="Arial"/>
                <a:cs typeface="Arial"/>
              </a:rPr>
              <a:t>Development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hardware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cost: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Rs.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0-</a:t>
            </a:r>
            <a:r>
              <a:rPr dirty="0" sz="900" spc="-20">
                <a:latin typeface="Arial"/>
                <a:cs typeface="Arial"/>
              </a:rPr>
              <a:t>2000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latin typeface="Arial"/>
                <a:cs typeface="Arial"/>
              </a:rPr>
              <a:t>Hosting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maintenance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cost: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Rs.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0-</a:t>
            </a:r>
            <a:r>
              <a:rPr dirty="0" sz="900" spc="-10">
                <a:latin typeface="Arial"/>
                <a:cs typeface="Arial"/>
              </a:rPr>
              <a:t>500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per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month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 spc="-20">
                <a:latin typeface="Arial"/>
                <a:cs typeface="Arial"/>
              </a:rPr>
              <a:t>Estimated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total: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Rs.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0–</a:t>
            </a:r>
            <a:r>
              <a:rPr dirty="0" sz="900" spc="-25">
                <a:latin typeface="Arial"/>
                <a:cs typeface="Arial"/>
              </a:rPr>
              <a:t>8,000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initial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prototype,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assuming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free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tools and</a:t>
            </a:r>
            <a:r>
              <a:rPr dirty="0" sz="900" spc="-20">
                <a:latin typeface="Arial"/>
                <a:cs typeface="Arial"/>
              </a:rPr>
              <a:t> existing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5720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8537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70">
                <a:latin typeface="Arial Black"/>
                <a:cs typeface="Arial Black"/>
              </a:rPr>
              <a:t>Use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90">
                <a:latin typeface="Arial Black"/>
                <a:cs typeface="Arial Black"/>
              </a:rPr>
              <a:t>Cases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pc="-20"/>
              <a:t>(compulsorily</a:t>
            </a:r>
            <a:r>
              <a:rPr dirty="0" spc="-35"/>
              <a:t> </a:t>
            </a:r>
            <a:r>
              <a:rPr dirty="0"/>
              <a:t>3</a:t>
            </a:r>
            <a:r>
              <a:rPr dirty="0" spc="30"/>
              <a:t> </a:t>
            </a:r>
            <a:r>
              <a:rPr dirty="0" spc="-60"/>
              <a:t>use</a:t>
            </a:r>
            <a:r>
              <a:rPr dirty="0" spc="30"/>
              <a:t> </a:t>
            </a:r>
            <a:r>
              <a:rPr dirty="0" spc="-75"/>
              <a:t>cases</a:t>
            </a:r>
            <a:r>
              <a:rPr dirty="0" spc="30"/>
              <a:t> </a:t>
            </a:r>
            <a:r>
              <a:rPr dirty="0"/>
              <a:t>must</a:t>
            </a:r>
            <a:r>
              <a:rPr dirty="0" spc="30"/>
              <a:t> </a:t>
            </a:r>
            <a:r>
              <a:rPr dirty="0"/>
              <a:t>be</a:t>
            </a:r>
            <a:r>
              <a:rPr dirty="0" spc="30"/>
              <a:t> </a:t>
            </a:r>
            <a:r>
              <a:rPr dirty="0" spc="-10"/>
              <a:t>there)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662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1073318"/>
            <a:ext cx="3723004" cy="1209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1605">
              <a:lnSpc>
                <a:spcPct val="113100"/>
              </a:lnSpc>
              <a:spcBef>
                <a:spcPts val="100"/>
              </a:spcBef>
            </a:pPr>
            <a:r>
              <a:rPr dirty="0" sz="900" spc="-55">
                <a:latin typeface="Arial"/>
                <a:cs typeface="Arial"/>
              </a:rPr>
              <a:t>Use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case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1:</a:t>
            </a:r>
            <a:r>
              <a:rPr dirty="0" sz="900" spc="1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student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checks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location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classrooms, </a:t>
            </a:r>
            <a:r>
              <a:rPr dirty="0" sz="900" spc="-10">
                <a:latin typeface="Arial"/>
                <a:cs typeface="Arial"/>
              </a:rPr>
              <a:t>computer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labs,</a:t>
            </a:r>
            <a:r>
              <a:rPr dirty="0" sz="900" spc="-10">
                <a:latin typeface="Arial"/>
                <a:cs typeface="Arial"/>
              </a:rPr>
              <a:t> and study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spaces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before</a:t>
            </a:r>
            <a:r>
              <a:rPr dirty="0" sz="900" spc="-10">
                <a:latin typeface="Arial"/>
                <a:cs typeface="Arial"/>
              </a:rPr>
              <a:t> visiting.</a:t>
            </a:r>
            <a:endParaRPr sz="900">
              <a:latin typeface="Arial"/>
              <a:cs typeface="Arial"/>
            </a:endParaRPr>
          </a:p>
          <a:p>
            <a:pPr marL="12700" marR="397510">
              <a:lnSpc>
                <a:spcPct val="113100"/>
              </a:lnSpc>
              <a:spcBef>
                <a:spcPts val="994"/>
              </a:spcBef>
            </a:pPr>
            <a:r>
              <a:rPr dirty="0" sz="900" spc="-55">
                <a:latin typeface="Arial"/>
                <a:cs typeface="Arial"/>
              </a:rPr>
              <a:t>Use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case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2: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student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views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available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 </a:t>
            </a:r>
            <a:r>
              <a:rPr dirty="0" sz="900" spc="-10">
                <a:latin typeface="Arial"/>
                <a:cs typeface="Arial"/>
              </a:rPr>
              <a:t>slots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books</a:t>
            </a:r>
            <a:r>
              <a:rPr dirty="0" sz="900">
                <a:latin typeface="Arial"/>
                <a:cs typeface="Arial"/>
              </a:rPr>
              <a:t> a lab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or </a:t>
            </a:r>
            <a:r>
              <a:rPr dirty="0" sz="900" spc="-25">
                <a:latin typeface="Arial"/>
                <a:cs typeface="Arial"/>
              </a:rPr>
              <a:t>3D-</a:t>
            </a:r>
            <a:r>
              <a:rPr dirty="0" sz="900">
                <a:latin typeface="Arial"/>
                <a:cs typeface="Arial"/>
              </a:rPr>
              <a:t>printing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facility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project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work.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z="900" spc="-55">
                <a:latin typeface="Arial"/>
                <a:cs typeface="Arial"/>
              </a:rPr>
              <a:t>Use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case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3: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administrator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updates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facility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schedules,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manages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bookings, 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records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equipment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faults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ensure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accurate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availability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60308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399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Arial Black"/>
                <a:cs typeface="Arial Black"/>
              </a:rPr>
              <a:t>Impacts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150">
                <a:latin typeface="Arial Black"/>
                <a:cs typeface="Arial Black"/>
              </a:rPr>
              <a:t>and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662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892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pc="-30"/>
              <a:t>Helps</a:t>
            </a:r>
            <a:r>
              <a:rPr dirty="0" spc="-10"/>
              <a:t> </a:t>
            </a:r>
            <a:r>
              <a:rPr dirty="0" spc="-20"/>
              <a:t>students</a:t>
            </a:r>
            <a:r>
              <a:rPr dirty="0" spc="-5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/>
              <a:t>faculty</a:t>
            </a:r>
            <a:r>
              <a:rPr dirty="0" spc="-10"/>
              <a:t> </a:t>
            </a:r>
            <a:r>
              <a:rPr dirty="0"/>
              <a:t>find</a:t>
            </a:r>
            <a:r>
              <a:rPr dirty="0" spc="-5"/>
              <a:t> </a:t>
            </a:r>
            <a:r>
              <a:rPr dirty="0" spc="-30"/>
              <a:t>available</a:t>
            </a:r>
            <a:r>
              <a:rPr dirty="0" spc="-5"/>
              <a:t> </a:t>
            </a:r>
            <a:r>
              <a:rPr dirty="0" spc="-35"/>
              <a:t>campus</a:t>
            </a:r>
            <a:r>
              <a:rPr dirty="0" spc="-10"/>
              <a:t> facilities</a:t>
            </a:r>
            <a:r>
              <a:rPr dirty="0" spc="-5"/>
              <a:t> </a:t>
            </a:r>
            <a:r>
              <a:rPr dirty="0" spc="-20"/>
              <a:t>quickly,</a:t>
            </a:r>
            <a:r>
              <a:rPr dirty="0" spc="-5"/>
              <a:t> </a:t>
            </a:r>
            <a:r>
              <a:rPr dirty="0" spc="-35"/>
              <a:t>saving</a:t>
            </a:r>
            <a:r>
              <a:rPr dirty="0" spc="-5"/>
              <a:t> </a:t>
            </a:r>
            <a:r>
              <a:rPr dirty="0" spc="-20"/>
              <a:t>time </a:t>
            </a:r>
            <a:r>
              <a:rPr dirty="0" spc="-10"/>
              <a:t>and</a:t>
            </a:r>
            <a:r>
              <a:rPr dirty="0" spc="-40"/>
              <a:t> </a:t>
            </a:r>
            <a:r>
              <a:rPr dirty="0" spc="-10"/>
              <a:t>improving</a:t>
            </a:r>
            <a:r>
              <a:rPr dirty="0" spc="-40"/>
              <a:t> </a:t>
            </a:r>
            <a:r>
              <a:rPr dirty="0" spc="-10"/>
              <a:t>efficiency.</a:t>
            </a:r>
          </a:p>
          <a:p>
            <a:pPr marL="12700" marR="78105">
              <a:lnSpc>
                <a:spcPct val="113100"/>
              </a:lnSpc>
              <a:spcBef>
                <a:spcPts val="994"/>
              </a:spcBef>
            </a:pPr>
            <a:r>
              <a:rPr dirty="0" spc="-35"/>
              <a:t>Improves</a:t>
            </a:r>
            <a:r>
              <a:rPr dirty="0" spc="-15"/>
              <a:t> </a:t>
            </a:r>
            <a:r>
              <a:rPr dirty="0" spc="-35"/>
              <a:t>campus</a:t>
            </a:r>
            <a:r>
              <a:rPr dirty="0" spc="-10"/>
              <a:t> coordination, </a:t>
            </a:r>
            <a:r>
              <a:rPr dirty="0" spc="-45"/>
              <a:t>reduces</a:t>
            </a:r>
            <a:r>
              <a:rPr dirty="0" spc="-10"/>
              <a:t> </a:t>
            </a:r>
            <a:r>
              <a:rPr dirty="0" spc="-55"/>
              <a:t>unnecessary</a:t>
            </a:r>
            <a:r>
              <a:rPr dirty="0" spc="-10"/>
              <a:t> </a:t>
            </a:r>
            <a:r>
              <a:rPr dirty="0" spc="-55"/>
              <a:t>expenses,</a:t>
            </a:r>
            <a:r>
              <a:rPr dirty="0" spc="-5"/>
              <a:t> </a:t>
            </a:r>
            <a:r>
              <a:rPr dirty="0" spc="-10"/>
              <a:t>and promotes </a:t>
            </a:r>
            <a:r>
              <a:rPr dirty="0"/>
              <a:t>efficient </a:t>
            </a:r>
            <a:r>
              <a:rPr dirty="0" spc="-60"/>
              <a:t>use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10"/>
              <a:t>resources.</a:t>
            </a:r>
          </a:p>
          <a:p>
            <a:pPr marL="12700" marR="319405">
              <a:lnSpc>
                <a:spcPct val="113100"/>
              </a:lnSpc>
              <a:spcBef>
                <a:spcPts val="1000"/>
              </a:spcBef>
            </a:pPr>
            <a:r>
              <a:rPr dirty="0"/>
              <a:t>Aims</a:t>
            </a:r>
            <a:r>
              <a:rPr dirty="0" spc="-5"/>
              <a:t> </a:t>
            </a:r>
            <a:r>
              <a:rPr dirty="0"/>
              <a:t>to </a:t>
            </a:r>
            <a:r>
              <a:rPr dirty="0" spc="-40"/>
              <a:t>reduce</a:t>
            </a:r>
            <a:r>
              <a:rPr dirty="0"/>
              <a:t> </a:t>
            </a:r>
            <a:r>
              <a:rPr dirty="0" spc="-10"/>
              <a:t>facility-</a:t>
            </a:r>
            <a:r>
              <a:rPr dirty="0" spc="-35"/>
              <a:t>search</a:t>
            </a:r>
            <a:r>
              <a:rPr dirty="0" spc="-5"/>
              <a:t> </a:t>
            </a:r>
            <a:r>
              <a:rPr dirty="0"/>
              <a:t>time by 50 </a:t>
            </a:r>
            <a:r>
              <a:rPr dirty="0" spc="-10"/>
              <a:t>percent</a:t>
            </a:r>
            <a:r>
              <a:rPr dirty="0" spc="-5"/>
              <a:t> </a:t>
            </a:r>
            <a:r>
              <a:rPr dirty="0" spc="-10"/>
              <a:t>and</a:t>
            </a:r>
            <a:r>
              <a:rPr dirty="0"/>
              <a:t> </a:t>
            </a:r>
            <a:r>
              <a:rPr dirty="0" spc="-45"/>
              <a:t>increase</a:t>
            </a:r>
            <a:r>
              <a:rPr dirty="0"/>
              <a:t> </a:t>
            </a:r>
            <a:r>
              <a:rPr dirty="0" spc="-25"/>
              <a:t>resource </a:t>
            </a:r>
            <a:r>
              <a:rPr dirty="0"/>
              <a:t>utilization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 spc="-45"/>
              <a:t>20–</a:t>
            </a:r>
            <a:r>
              <a:rPr dirty="0"/>
              <a:t>30</a:t>
            </a:r>
            <a:r>
              <a:rPr dirty="0" spc="-5"/>
              <a:t> </a:t>
            </a:r>
            <a:r>
              <a:rPr dirty="0" spc="-10"/>
              <a:t>percent.</a:t>
            </a:r>
          </a:p>
        </p:txBody>
      </p:sp>
      <p:sp>
        <p:nvSpPr>
          <p:cNvPr id="8" name="object 8"/>
          <p:cNvSpPr/>
          <p:nvPr/>
        </p:nvSpPr>
        <p:spPr>
          <a:xfrm>
            <a:off x="377101" y="160308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399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45">
                <a:solidFill>
                  <a:srgbClr val="154B33"/>
                </a:solidFill>
                <a:latin typeface="Arial Black"/>
                <a:cs typeface="Arial Black"/>
              </a:rPr>
              <a:t>Sustainable</a:t>
            </a:r>
            <a:r>
              <a:rPr dirty="0" sz="1100" spc="1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154B33"/>
                </a:solidFill>
                <a:latin typeface="Arial Black"/>
                <a:cs typeface="Arial Black"/>
              </a:rPr>
              <a:t>Development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55">
                <a:solidFill>
                  <a:srgbClr val="154B33"/>
                </a:solidFill>
                <a:latin typeface="Arial Black"/>
                <a:cs typeface="Arial Black"/>
              </a:rPr>
              <a:t>Goals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154B33"/>
                </a:solidFill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4002" y="721880"/>
          <a:ext cx="4036695" cy="2310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/>
                <a:gridCol w="926465"/>
                <a:gridCol w="998219"/>
                <a:gridCol w="1170940"/>
              </a:tblGrid>
              <a:tr h="302260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</a:t>
                      </a:r>
                      <a:r>
                        <a:rPr dirty="0" sz="900" spc="5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dirty="0" sz="900" spc="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930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4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4.a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latin typeface="Arial"/>
                          <a:cs typeface="Arial"/>
                        </a:rPr>
                        <a:t>Quality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Education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8763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35">
                          <a:latin typeface="Arial"/>
                          <a:cs typeface="Arial"/>
                        </a:rPr>
                        <a:t>Improves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75"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campus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facilities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creates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more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efficient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learning environment.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1078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5">
                          <a:latin typeface="Arial Black"/>
                          <a:cs typeface="Arial Black"/>
                        </a:rPr>
                        <a:t>11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11.7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92710">
                        <a:lnSpc>
                          <a:spcPct val="113100"/>
                        </a:lnSpc>
                      </a:pPr>
                      <a:r>
                        <a:rPr dirty="0" sz="900" spc="-35">
                          <a:latin typeface="Arial"/>
                          <a:cs typeface="Arial"/>
                        </a:rPr>
                        <a:t>Sustainable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cities and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communities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8419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Promotes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efficient</a:t>
                      </a:r>
                      <a:r>
                        <a:rPr dirty="0" sz="900" spc="5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60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campus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70">
                          <a:latin typeface="Arial"/>
                          <a:cs typeface="Arial"/>
                        </a:rPr>
                        <a:t>spaces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and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creating accessible,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sustainable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learning environments.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dirty="0" sz="1100" spc="5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dirty="0" sz="1100" spc="6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182" y="877316"/>
          <a:ext cx="375031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/>
                <a:gridCol w="2628265"/>
              </a:tblGrid>
              <a:tr h="30226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8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dirty="0" sz="900" spc="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dirty="0" sz="900" spc="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00">
                          <a:latin typeface="Arial Black"/>
                          <a:cs typeface="Arial Black"/>
                        </a:rPr>
                        <a:t>Aditya</a:t>
                      </a:r>
                      <a:r>
                        <a:rPr dirty="0" sz="9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Pakharia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Leader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Coordination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35">
                          <a:latin typeface="Arial Black"/>
                          <a:cs typeface="Arial Black"/>
                        </a:rPr>
                        <a:t>Yeshwanth</a:t>
                      </a:r>
                      <a:r>
                        <a:rPr dirty="0" sz="900" spc="10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55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and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Idea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Development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335280" marR="88265" indent="-24701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95">
                          <a:latin typeface="Arial Black"/>
                          <a:cs typeface="Arial Black"/>
                        </a:rPr>
                        <a:t>Doradla</a:t>
                      </a:r>
                      <a:r>
                        <a:rPr dirty="0" sz="900" spc="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4">
                          <a:latin typeface="Arial Black"/>
                          <a:cs typeface="Arial Black"/>
                        </a:rPr>
                        <a:t>Santosh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 Charan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8128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Problem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Analysis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and Solution Planning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95">
                          <a:latin typeface="Arial Black"/>
                          <a:cs typeface="Arial Black"/>
                        </a:rPr>
                        <a:t>Bongu</a:t>
                      </a:r>
                      <a:r>
                        <a:rPr dirty="0" sz="900" spc="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Sasanth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Documentation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Presentation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Preparation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dirty="0" sz="1100" spc="2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01876" y="1513454"/>
            <a:ext cx="180467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55">
                <a:solidFill>
                  <a:srgbClr val="154B33"/>
                </a:solidFill>
                <a:latin typeface="Arial Black"/>
                <a:cs typeface="Arial Black"/>
              </a:rPr>
              <a:t>[IR2026-1051061]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dirty="0" sz="9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45"/>
              <a:t>[GEN26-A0H-</a:t>
            </a:r>
            <a:r>
              <a:rPr dirty="0" spc="-30"/>
              <a:t>I216]</a:t>
            </a:r>
            <a:r>
              <a:rPr dirty="0" spc="55"/>
              <a:t> </a:t>
            </a:r>
            <a:r>
              <a:rPr dirty="0"/>
              <a:t>|</a:t>
            </a:r>
            <a:r>
              <a:rPr dirty="0" spc="60"/>
              <a:t> </a:t>
            </a:r>
            <a:r>
              <a:rPr dirty="0" spc="-75"/>
              <a:t>[Power</a:t>
            </a:r>
            <a:r>
              <a:rPr dirty="0" spc="60"/>
              <a:t> </a:t>
            </a:r>
            <a:r>
              <a:rPr dirty="0" spc="-55"/>
              <a:t>Rangers]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ID: GEN26-A0H-I216[0.2cm] Power Rangers: POWER RANGERS[0.2cm] Domain: Domain 7</dc:creator>
  <dc:title>Genesis Ideathon: Final Presentation</dc:title>
  <dcterms:created xsi:type="dcterms:W3CDTF">2026-10-11T07:54:08Z</dcterms:created>
  <dcterms:modified xsi:type="dcterms:W3CDTF">2026-10-11T07:54:08Z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2026-10-11T00:00:00Z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