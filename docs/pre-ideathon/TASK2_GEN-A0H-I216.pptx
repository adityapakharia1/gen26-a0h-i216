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8" r:id="rId2"/>
    <p:sldId id="259" r:id="rId3"/>
    <p:sldId id="260" r:id="rId4"/>
    <p:sldId id="261" r:id="rId5"/>
    <p:sldId id="262" r:id="rId6"/>
    <p:sldId id="263" r:id="rId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Genesis Ideathon" id="{738414BB-E90B-39D7-38DA-935763612684}">
          <p14:sldIdLst>
            <p14:sldId id="258"/>
            <p14:sldId id="259"/>
            <p14:sldId id="260"/>
            <p14:sldId id="261"/>
            <p14:sldId id="262"/>
            <p14:sldId id="26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495415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GENESIS COVER">
    <p:bg>
      <p:bgPr>
        <a:solidFill>
          <a:schemeClr val="tx2"/>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GENESIS CONTENT">
    <p:bg>
      <p:bgPr>
        <a:solidFill>
          <a:schemeClr val="bg2"/>
        </a:solidFill>
        <a:effectLst/>
      </p:bgPr>
    </p:bg>
    <p:spTree>
      <p:nvGrpSpPr>
        <p:cNvPr id="1" name=""/>
        <p:cNvGrpSpPr/>
        <p:nvPr/>
      </p:nvGrpSpPr>
      <p:grpSpPr>
        <a:xfrm>
          <a:off x="0" y="0"/>
          <a:ext cx="0" cy="0"/>
          <a:chOff x="0" y="0"/>
          <a:chExt cx="0" cy="0"/>
        </a:xfrm>
      </p:grpSpPr>
      <p:sp>
        <p:nvSpPr>
          <p:cNvPr id="2" name="Text 0"/>
          <p:cNvSpPr/>
          <p:nvPr/>
        </p:nvSpPr>
        <p:spPr>
          <a:xfrm>
            <a:off x="10911535" y="320040"/>
            <a:ext cx="822960" cy="822960"/>
          </a:xfrm>
          <a:prstGeom prst="roundRect">
            <a:avLst>
              <a:gd name="adj" fmla="val 13333"/>
            </a:avLst>
          </a:prstGeom>
          <a:solidFill>
            <a:schemeClr val="bg1"/>
          </a:solidFill>
          <a:ln w="9525">
            <a:solidFill>
              <a:schemeClr val="accent6"/>
            </a:solidFill>
          </a:ln>
        </p:spPr>
        <p:txBody>
          <a:bodyPr wrap="square" rtlCol="0" anchor="ctr"/>
          <a:lstStyle/>
          <a:p>
            <a:pPr marL="0" indent="0">
              <a:buNone/>
            </a:pPr>
            <a:endParaRPr lang="en-US" dirty="0"/>
          </a:p>
        </p:txBody>
      </p:sp>
      <p:pic>
        <p:nvPicPr>
          <p:cNvPr id="3" name="Image 0" descr="Genesis logo"/>
          <p:cNvPicPr>
            <a:picLocks noChangeAspect="1"/>
          </p:cNvPicPr>
          <p:nvPr/>
        </p:nvPicPr>
        <p:blipFill>
          <a:blip r:embed="rId2"/>
          <a:stretch>
            <a:fillRect/>
          </a:stretch>
        </p:blipFill>
        <p:spPr>
          <a:xfrm>
            <a:off x="11055950" y="384048"/>
            <a:ext cx="534131" cy="694944"/>
          </a:xfrm>
          <a:prstGeom prst="rect">
            <a:avLst/>
          </a:prstGeom>
        </p:spPr>
      </p:pic>
      <p:sp>
        <p:nvSpPr>
          <p:cNvPr id="4" name="Shape 1"/>
          <p:cNvSpPr/>
          <p:nvPr/>
        </p:nvSpPr>
        <p:spPr>
          <a:xfrm>
            <a:off x="0" y="6355080"/>
            <a:ext cx="12191695" cy="502920"/>
          </a:xfrm>
          <a:prstGeom prst="rect">
            <a:avLst/>
          </a:prstGeom>
          <a:solidFill>
            <a:schemeClr val="tx2"/>
          </a:solidFill>
          <a:ln/>
        </p:spPr>
      </p:sp>
      <p:sp>
        <p:nvSpPr>
          <p:cNvPr id="5" name="Text 2"/>
          <p:cNvSpPr/>
          <p:nvPr/>
        </p:nvSpPr>
        <p:spPr>
          <a:xfrm>
            <a:off x="2286000" y="6355080"/>
            <a:ext cx="7619695" cy="502920"/>
          </a:xfrm>
          <a:prstGeom prst="rect">
            <a:avLst/>
          </a:prstGeom>
          <a:noFill/>
          <a:ln/>
        </p:spPr>
        <p:txBody>
          <a:bodyPr wrap="square" lIns="0" tIns="0" rIns="0" bIns="0" rtlCol="0" anchor="ctr"/>
          <a:lstStyle/>
          <a:p>
            <a:pPr marL="0" indent="0" algn="ctr">
              <a:buNone/>
            </a:pPr>
            <a:r>
              <a:rPr lang="en-US" sz="1050" kern="0" spc="100" dirty="0">
                <a:solidFill>
                  <a:schemeClr val="accent6"/>
                </a:solidFill>
              </a:rPr>
              <a:t>Genesis Ideathon – Pre-Ideathon Template</a:t>
            </a:r>
            <a:endParaRPr lang="en-US" sz="1050" dirty="0"/>
          </a:p>
        </p:txBody>
      </p:sp>
      <p:sp>
        <p:nvSpPr>
          <p:cNvPr id="6" name="Text 3"/>
          <p:cNvSpPr/>
          <p:nvPr/>
        </p:nvSpPr>
        <p:spPr>
          <a:xfrm>
            <a:off x="11259007" y="6409944"/>
            <a:ext cx="457200" cy="395935"/>
          </a:xfrm>
          <a:prstGeom prst="hexagon">
            <a:avLst/>
          </a:prstGeom>
          <a:solidFill>
            <a:schemeClr val="accent3"/>
          </a:solidFill>
          <a:ln/>
        </p:spPr>
        <p:txBody>
          <a:bodyPr wrap="square" rtlCol="0" anchor="ctr"/>
          <a:lstStyle/>
          <a:p>
            <a:pPr marL="0" indent="0">
              <a:buNone/>
            </a:pPr>
            <a:endParaRPr lang="en-US" dirty="0"/>
          </a:p>
        </p:txBody>
      </p:sp>
      <p:sp>
        <p:nvSpPr>
          <p:cNvPr id="7" name="Text 4"/>
          <p:cNvSpPr/>
          <p:nvPr/>
        </p:nvSpPr>
        <p:spPr>
          <a:xfrm rot="5400000">
            <a:off x="10610311" y="4686300"/>
            <a:ext cx="1425408" cy="1234440"/>
          </a:xfrm>
          <a:prstGeom prst="hexagon">
            <a:avLst/>
          </a:prstGeom>
          <a:ln w="15875">
            <a:solidFill>
              <a:schemeClr val="accent4">
                <a:alpha val="28000"/>
              </a:schemeClr>
            </a:solidFill>
          </a:ln>
        </p:spPr>
        <p:txBody>
          <a:bodyPr wrap="square" rtlCol="0" anchor="ctr"/>
          <a:lstStyle/>
          <a:p>
            <a:pPr marL="0" indent="0">
              <a:buNone/>
            </a:pPr>
            <a:endParaRPr lang="en-US" dirty="0"/>
          </a:p>
        </p:txBody>
      </p:sp>
      <p:sp>
        <p:nvSpPr>
          <p:cNvPr id="8" name="Text 5"/>
          <p:cNvSpPr/>
          <p:nvPr/>
        </p:nvSpPr>
        <p:spPr>
          <a:xfrm rot="5400000">
            <a:off x="9750599" y="5349240"/>
            <a:ext cx="950272" cy="822960"/>
          </a:xfrm>
          <a:prstGeom prst="hexagon">
            <a:avLst/>
          </a:prstGeom>
          <a:ln w="15875">
            <a:solidFill>
              <a:schemeClr val="accent4">
                <a:alpha val="20000"/>
              </a:schemeClr>
            </a:solidFill>
          </a:ln>
        </p:spPr>
        <p:txBody>
          <a:bodyPr wrap="square" rtlCol="0" anchor="ctr"/>
          <a:lstStyle/>
          <a:p>
            <a:pPr marL="0" indent="0">
              <a:buNone/>
            </a:pPr>
            <a:endParaRPr lang="en-US" dirty="0"/>
          </a:p>
        </p:txBody>
      </p:sp>
      <p:sp>
        <p:nvSpPr>
          <p:cNvPr id="9" name="Text 6"/>
          <p:cNvSpPr/>
          <p:nvPr/>
        </p:nvSpPr>
        <p:spPr>
          <a:xfrm rot="5400000">
            <a:off x="11579399" y="3840480"/>
            <a:ext cx="950272" cy="822960"/>
          </a:xfrm>
          <a:prstGeom prst="hexagon">
            <a:avLst/>
          </a:prstGeom>
          <a:ln w="15875">
            <a:solidFill>
              <a:schemeClr val="accent4">
                <a:alpha val="18000"/>
              </a:schemeClr>
            </a:solidFill>
          </a:ln>
        </p:spPr>
        <p:txBody>
          <a:bodyPr wrap="square" rtlCol="0" anchor="ctr"/>
          <a:lstStyle/>
          <a:p>
            <a:pPr marL="0" indent="0">
              <a:buNone/>
            </a:pPr>
            <a:endParaRPr lang="en-US" dirty="0"/>
          </a:p>
        </p:txBody>
      </p:sp>
      <p:sp>
        <p:nvSpPr>
          <p:cNvPr id="10" name="Text 7"/>
          <p:cNvSpPr>
            <a:spLocks noGrp="1"/>
          </p:cNvSpPr>
          <p:nvPr>
            <p:ph type="title" idx="108" hasCustomPrompt="1"/>
          </p:nvPr>
        </p:nvSpPr>
        <p:spPr>
          <a:xfrm>
            <a:off x="3246120" y="320040"/>
            <a:ext cx="7498080" cy="822960"/>
          </a:xfrm>
          <a:prstGeom prst="rect">
            <a:avLst/>
          </a:prstGeom>
          <a:noFill/>
          <a:ln/>
        </p:spPr>
        <p:txBody>
          <a:bodyPr wrap="square" rtlCol="0"/>
          <a:lstStyle>
            <a:lvl1pPr marL="0" indent="0" algn="ctr">
              <a:buNone/>
              <a:defRPr lang="en-US" sz="2400" b="1" kern="0" spc="100" dirty="0">
                <a:solidFill>
                  <a:schemeClr val="tx2"/>
                </a:solidFill>
                <a:latin typeface="Cambria" pitchFamily="34" charset="0"/>
                <a:ea typeface="Cambria" pitchFamily="34" charset="-122"/>
                <a:cs typeface="Cambria" pitchFamily="34" charset="-120"/>
              </a:defRPr>
            </a:lvl1pP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SLIDE TITLE</a:t>
            </a:r>
            <a:endParaRPr lang="en-US" sz="2400" dirty="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WHO IS AFFECTED?</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pPr marL="0" indent="0">
              <a:buNone/>
            </a:pPr>
            <a:r>
              <a:rPr lang="en-US" sz="1500" b="1" dirty="0">
                <a:solidFill>
                  <a:schemeClr val="accent1"/>
                </a:solidFill>
              </a:rPr>
              <a:t>Power Rangers</a:t>
            </a:r>
            <a:endParaRPr lang="en-US" sz="900" dirty="0"/>
          </a:p>
        </p:txBody>
      </p:sp>
      <p:sp>
        <p:nvSpPr>
          <p:cNvPr id="7" name="Lead Icon Hex"/>
          <p:cNvSpPr/>
          <p:nvPr/>
        </p:nvSpPr>
        <p:spPr>
          <a:xfrm>
            <a:off x="548640" y="1463040"/>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lang="en-US" sz="1800" b="1" dirty="0">
                <a:solidFill>
                  <a:schemeClr val="accent2"/>
                </a:solidFill>
              </a:rPr>
              <a:t>Target users, stakeholders, beneficiaries</a:t>
            </a:r>
            <a:endParaRPr lang="en-US" sz="1800" dirty="0"/>
          </a:p>
        </p:txBody>
      </p:sp>
      <p:sp>
        <p:nvSpPr>
          <p:cNvPr id="10" name="Prompts"/>
          <p:cNvSpPr txBox="1"/>
          <p:nvPr/>
        </p:nvSpPr>
        <p:spPr>
          <a:xfrm>
            <a:off x="868680" y="2148840"/>
            <a:ext cx="10424160" cy="1645920"/>
          </a:xfrm>
          <a:prstGeom prst="rect">
            <a:avLst/>
          </a:prstGeom>
          <a:noFill/>
          <a:ln/>
        </p:spPr>
        <p:txBody>
          <a:bodyPr wrap="square" lIns="0" tIns="0" rIns="0" bIns="0" rtlCol="0" anchor="t"/>
          <a:lstStyle/>
          <a:p>
            <a:pPr marL="279400" indent="-279400">
              <a:spcAft>
                <a:spcPts val="1000"/>
              </a:spcAft>
              <a:buClr>
                <a:schemeClr val="accent1"/>
              </a:buClr>
              <a:buSzPct val="100000"/>
              <a:buFontTx/>
              <a:buChar char="•"/>
            </a:pPr>
            <a:r>
              <a:rPr lang="en-US" dirty="0"/>
              <a:t>Primary users / target group: </a:t>
            </a:r>
            <a:r>
              <a:rPr lang="en-IN" dirty="0"/>
              <a:t>College students who need available classrooms, project rooms, and laboratory computers. Students working on assignments, group projects, and practical tasks.</a:t>
            </a:r>
          </a:p>
          <a:p>
            <a:pPr marL="279400" indent="-279400">
              <a:spcAft>
                <a:spcPts val="1000"/>
              </a:spcAft>
              <a:buClr>
                <a:schemeClr val="accent1"/>
              </a:buClr>
              <a:buSzPct val="100000"/>
              <a:buChar char="•"/>
            </a:pPr>
            <a:r>
              <a:rPr lang="en-IN" dirty="0"/>
              <a:t>Secondary stakeholders: College administration and campus facility managers. Faculty members, laboratory staff, and technical support teams. Departments responsible for maintaining and allocating campus resources.</a:t>
            </a:r>
          </a:p>
          <a:p>
            <a:pPr marL="279400" indent="-279400">
              <a:spcAft>
                <a:spcPts val="1000"/>
              </a:spcAft>
              <a:buClr>
                <a:schemeClr val="accent1"/>
              </a:buClr>
              <a:buSzPct val="100000"/>
              <a:buChar char="•"/>
            </a:pPr>
            <a:r>
              <a:rPr lang="en-IN" dirty="0"/>
              <a:t>Who benefits if the problem is solved?: Students save time and find available facilities more easily. College administration would be able to identify overcrowded and underused resources. Faculty and staff would spend less time helping students locate facilities.</a:t>
            </a:r>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CURRENT SITUATION &amp; CONTEXT</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pPr marL="0" indent="0">
              <a:buNone/>
            </a:pPr>
            <a:r>
              <a:rPr lang="en-US" sz="1500" b="1" dirty="0">
                <a:solidFill>
                  <a:schemeClr val="accent1"/>
                </a:solidFill>
              </a:rPr>
              <a:t>Power Rangers</a:t>
            </a:r>
            <a:endParaRPr lang="en-US" sz="900" dirty="0"/>
          </a:p>
        </p:txBody>
      </p:sp>
      <p:sp>
        <p:nvSpPr>
          <p:cNvPr id="7" name="Lead Icon Hex"/>
          <p:cNvSpPr/>
          <p:nvPr/>
        </p:nvSpPr>
        <p:spPr>
          <a:xfrm>
            <a:off x="548640" y="1463040"/>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lang="en-US" sz="1800" b="1" dirty="0">
                <a:solidFill>
                  <a:schemeClr val="accent2"/>
                </a:solidFill>
              </a:rPr>
              <a:t>Existing scenario, background and how things work today</a:t>
            </a:r>
            <a:endParaRPr lang="en-US" sz="1800" dirty="0"/>
          </a:p>
        </p:txBody>
      </p:sp>
      <p:sp>
        <p:nvSpPr>
          <p:cNvPr id="10" name="Prompts"/>
          <p:cNvSpPr txBox="1"/>
          <p:nvPr/>
        </p:nvSpPr>
        <p:spPr>
          <a:xfrm>
            <a:off x="883920" y="1919325"/>
            <a:ext cx="10424160" cy="3185770"/>
          </a:xfrm>
          <a:prstGeom prst="rect">
            <a:avLst/>
          </a:prstGeom>
          <a:noFill/>
          <a:ln/>
        </p:spPr>
        <p:txBody>
          <a:bodyPr wrap="square" lIns="0" tIns="0" rIns="0" bIns="0" rtlCol="0" anchor="t"/>
          <a:lstStyle/>
          <a:p>
            <a:pPr marL="279400" indent="-279400">
              <a:spcAft>
                <a:spcPts val="1000"/>
              </a:spcAft>
              <a:buClr>
                <a:schemeClr val="accent1"/>
              </a:buClr>
              <a:buSzPct val="100000"/>
              <a:buChar char="•"/>
            </a:pPr>
            <a:r>
              <a:rPr lang="en-IN" sz="1700" dirty="0"/>
              <a:t>Existing scenario and background: Our college lacks a centralized platform for checking the availability of classrooms, project rooms, laboratory computers, and printers. Students often need to ask others or physically check locations to find available resources. This can waste time and lead to inefficient use of existing campus facilities.</a:t>
            </a:r>
            <a:endParaRPr lang="en-US" sz="1700" dirty="0"/>
          </a:p>
          <a:p>
            <a:pPr marL="279400" indent="-279400">
              <a:spcAft>
                <a:spcPts val="1000"/>
              </a:spcAft>
              <a:buClr>
                <a:schemeClr val="accent1"/>
              </a:buClr>
              <a:buSzPct val="100000"/>
              <a:buChar char="•"/>
            </a:pPr>
            <a:r>
              <a:rPr lang="en-IN" sz="1700" dirty="0"/>
              <a:t>Relevant data or facts: A 2020 study at </a:t>
            </a:r>
            <a:r>
              <a:rPr lang="en-IN" sz="1700" dirty="0" err="1"/>
              <a:t>Umeå</a:t>
            </a:r>
            <a:r>
              <a:rPr lang="en-IN" sz="1700" dirty="0"/>
              <a:t> University examined 8 lecture halls and found that they were neither booked nor occupied for approximately 41% of the available time. This demonstrates that scheduled usage and actual resource utilization can differ significantly. Source: Azizi et al., Building and Environment (2020).</a:t>
            </a:r>
          </a:p>
          <a:p>
            <a:pPr marL="279400" indent="-279400">
              <a:spcAft>
                <a:spcPts val="1000"/>
              </a:spcAft>
              <a:buClr>
                <a:schemeClr val="accent1"/>
              </a:buClr>
              <a:buSzPct val="100000"/>
              <a:buChar char="•"/>
            </a:pPr>
            <a:r>
              <a:rPr lang="en-US" sz="1700" dirty="0"/>
              <a:t>Current workflow, step by step:</a:t>
            </a:r>
          </a:p>
          <a:p>
            <a:pPr marL="342900" indent="-342900">
              <a:spcAft>
                <a:spcPts val="1000"/>
              </a:spcAft>
              <a:buClr>
                <a:schemeClr val="accent1"/>
              </a:buClr>
              <a:buSzPct val="100000"/>
              <a:buAutoNum type="arabicPeriod"/>
            </a:pPr>
            <a:r>
              <a:rPr lang="en-IN" sz="1700" dirty="0"/>
              <a:t>A student needs a classroom, computer, project room, or printer.</a:t>
            </a:r>
          </a:p>
          <a:p>
            <a:pPr marL="342900" indent="-342900">
              <a:spcAft>
                <a:spcPts val="1000"/>
              </a:spcAft>
              <a:buClr>
                <a:schemeClr val="accent1"/>
              </a:buClr>
              <a:buSzPct val="100000"/>
              <a:buAutoNum type="arabicPeriod"/>
            </a:pPr>
            <a:r>
              <a:rPr lang="en-IN" sz="1700" dirty="0"/>
              <a:t>The student asks classmates or staff, or checks the location manually.</a:t>
            </a:r>
          </a:p>
          <a:p>
            <a:pPr marL="342900" indent="-342900">
              <a:spcAft>
                <a:spcPts val="1000"/>
              </a:spcAft>
              <a:buClr>
                <a:schemeClr val="accent1"/>
              </a:buClr>
              <a:buSzPct val="100000"/>
              <a:buAutoNum type="arabicPeriod"/>
            </a:pPr>
            <a:r>
              <a:rPr lang="en-IN" sz="1700" dirty="0"/>
              <a:t>The student visits the facility to check availability.</a:t>
            </a:r>
          </a:p>
          <a:p>
            <a:pPr marL="342900" indent="-342900">
              <a:spcAft>
                <a:spcPts val="1000"/>
              </a:spcAft>
              <a:buClr>
                <a:schemeClr val="accent1"/>
              </a:buClr>
              <a:buSzPct val="100000"/>
              <a:buAutoNum type="arabicPeriod"/>
            </a:pPr>
            <a:r>
              <a:rPr lang="en-IN" sz="1700" dirty="0"/>
              <a:t>If it is occupied or unsuitable, the student searches for another option.</a:t>
            </a:r>
          </a:p>
          <a:p>
            <a:pPr marL="342900" indent="-342900">
              <a:spcAft>
                <a:spcPts val="1000"/>
              </a:spcAft>
              <a:buClr>
                <a:schemeClr val="accent1"/>
              </a:buClr>
              <a:buSzPct val="100000"/>
              <a:buAutoNum type="arabicPeriod"/>
            </a:pPr>
            <a:r>
              <a:rPr lang="en-IN" sz="1700" dirty="0"/>
              <a:t>The process repeats until a suitable resource is found, resulting in wasted time.</a:t>
            </a:r>
            <a:br>
              <a:rPr lang="en-US" dirty="0"/>
            </a:br>
            <a:endParaRPr lang="en-US" dirty="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KEY CHALLENGES</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pPr marL="0" indent="0">
              <a:buNone/>
            </a:pPr>
            <a:r>
              <a:rPr lang="en-US" sz="1500" b="1" dirty="0">
                <a:solidFill>
                  <a:schemeClr val="accent1"/>
                </a:solidFill>
              </a:rPr>
              <a:t>Power Rangers</a:t>
            </a:r>
            <a:endParaRPr lang="en-US" sz="900" dirty="0"/>
          </a:p>
        </p:txBody>
      </p:sp>
      <p:sp>
        <p:nvSpPr>
          <p:cNvPr id="7" name="Lead Icon Hex"/>
          <p:cNvSpPr/>
          <p:nvPr/>
        </p:nvSpPr>
        <p:spPr>
          <a:xfrm>
            <a:off x="548640" y="1463040"/>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lang="en-US" sz="1800" b="1" dirty="0">
                <a:solidFill>
                  <a:schemeClr val="accent2"/>
                </a:solidFill>
              </a:rPr>
              <a:t>Main difficulties, bottlenecks, root causes and consequences</a:t>
            </a:r>
            <a:endParaRPr lang="en-US" sz="1800" dirty="0"/>
          </a:p>
        </p:txBody>
      </p:sp>
      <p:sp>
        <p:nvSpPr>
          <p:cNvPr id="10" name="Prompts"/>
          <p:cNvSpPr txBox="1"/>
          <p:nvPr/>
        </p:nvSpPr>
        <p:spPr>
          <a:xfrm>
            <a:off x="868680" y="2148840"/>
            <a:ext cx="10424160" cy="1645920"/>
          </a:xfrm>
          <a:prstGeom prst="rect">
            <a:avLst/>
          </a:prstGeom>
          <a:noFill/>
          <a:ln/>
        </p:spPr>
        <p:txBody>
          <a:bodyPr wrap="square" lIns="0" tIns="0" rIns="0" bIns="0" rtlCol="0" anchor="t"/>
          <a:lstStyle/>
          <a:p>
            <a:pPr marL="279400" indent="-279400">
              <a:spcAft>
                <a:spcPts val="1000"/>
              </a:spcAft>
              <a:buClr>
                <a:schemeClr val="accent1"/>
              </a:buClr>
              <a:buSzPct val="100000"/>
              <a:buChar char="•"/>
            </a:pPr>
            <a:r>
              <a:rPr lang="en-IN" dirty="0"/>
              <a:t>Main difficulties and bottlenecks: Difficulty finding available classrooms, project rooms, laboratory computers, and printers. Time wasted checking different locations. Uncertainty about resource availability.</a:t>
            </a:r>
          </a:p>
          <a:p>
            <a:pPr marL="279400" indent="-279400">
              <a:spcAft>
                <a:spcPts val="1000"/>
              </a:spcAft>
              <a:buClr>
                <a:schemeClr val="accent1"/>
              </a:buClr>
              <a:buSzPct val="100000"/>
              <a:buChar char="•"/>
            </a:pPr>
            <a:r>
              <a:rPr lang="en-IN" dirty="0"/>
              <a:t>Root causes behind them: No centralized platform to check resource availability. Lack of real-time, reliable availability information. Dependence on manual checking and communication.</a:t>
            </a:r>
            <a:endParaRPr lang="en-US" sz="1800" dirty="0"/>
          </a:p>
          <a:p>
            <a:pPr marL="279400" indent="-279400">
              <a:spcAft>
                <a:spcPts val="1000"/>
              </a:spcAft>
              <a:buClr>
                <a:schemeClr val="accent1"/>
              </a:buClr>
              <a:buSzPct val="100000"/>
              <a:buChar char="•"/>
            </a:pPr>
            <a:r>
              <a:rPr lang="en-IN" dirty="0"/>
              <a:t>Consequences of leaving them unsolved: Wasted time and reduced student productivity. Delays in assignments and group projects. Uneven utilization of campus facilities, with some resources overcrowded while others remain underused.</a:t>
            </a:r>
            <a:endParaRPr lang="en-US" sz="1800" dirty="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EXISTING SOLUTIONS / APPROACHES</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pPr marL="0" indent="0">
              <a:buNone/>
            </a:pPr>
            <a:r>
              <a:rPr lang="en-US" sz="1500" b="1" dirty="0">
                <a:solidFill>
                  <a:schemeClr val="accent1"/>
                </a:solidFill>
              </a:rPr>
              <a:t>Power Rangers</a:t>
            </a:r>
            <a:endParaRPr lang="en-US" sz="900" dirty="0"/>
          </a:p>
        </p:txBody>
      </p:sp>
      <p:sp>
        <p:nvSpPr>
          <p:cNvPr id="7" name="Lead Icon Hex"/>
          <p:cNvSpPr/>
          <p:nvPr/>
        </p:nvSpPr>
        <p:spPr>
          <a:xfrm>
            <a:off x="548640" y="1463040"/>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lang="en-US" sz="1800" b="1" dirty="0">
                <a:solidFill>
                  <a:schemeClr val="accent2"/>
                </a:solidFill>
              </a:rPr>
              <a:t>What is already being done, and where it falls short</a:t>
            </a:r>
            <a:endParaRPr lang="en-US" sz="1800" dirty="0"/>
          </a:p>
        </p:txBody>
      </p:sp>
      <p:sp>
        <p:nvSpPr>
          <p:cNvPr id="10" name="Prompts"/>
          <p:cNvSpPr txBox="1"/>
          <p:nvPr/>
        </p:nvSpPr>
        <p:spPr>
          <a:xfrm>
            <a:off x="868680" y="2148840"/>
            <a:ext cx="10424160" cy="1645920"/>
          </a:xfrm>
          <a:prstGeom prst="rect">
            <a:avLst/>
          </a:prstGeom>
          <a:noFill/>
          <a:ln/>
        </p:spPr>
        <p:txBody>
          <a:bodyPr wrap="square" lIns="0" tIns="0" rIns="0" bIns="0" rtlCol="0" anchor="t"/>
          <a:lstStyle/>
          <a:p>
            <a:pPr marL="279400" indent="-279400">
              <a:spcAft>
                <a:spcPts val="1000"/>
              </a:spcAft>
              <a:buClr>
                <a:schemeClr val="accent1"/>
              </a:buClr>
              <a:buSzPct val="100000"/>
              <a:buChar char="•"/>
            </a:pPr>
            <a:r>
              <a:rPr lang="en-US" sz="1800" dirty="0">
                <a:solidFill>
                  <a:schemeClr val="tx1"/>
                </a:solidFill>
              </a:rPr>
              <a:t>Existing methods, systems or alternatives: </a:t>
            </a:r>
            <a:r>
              <a:rPr lang="en-IN" dirty="0"/>
              <a:t>Asking classmates or staff and physically checking facilities. Using class timetables, notice boards, or separate departmental records.</a:t>
            </a:r>
            <a:endParaRPr lang="en-US" dirty="0"/>
          </a:p>
          <a:p>
            <a:pPr marL="279400" indent="-279400">
              <a:spcAft>
                <a:spcPts val="1000"/>
              </a:spcAft>
              <a:buClr>
                <a:schemeClr val="accent1"/>
              </a:buClr>
              <a:buSzPct val="100000"/>
              <a:buChar char="•"/>
            </a:pPr>
            <a:r>
              <a:rPr lang="en-US" sz="1800" dirty="0">
                <a:solidFill>
                  <a:schemeClr val="tx1"/>
                </a:solidFill>
              </a:rPr>
              <a:t>Limitations of each: </a:t>
            </a:r>
            <a:r>
              <a:rPr lang="en-IN" dirty="0"/>
              <a:t>Manual checking wastes time and requires visiting different locations. Timetables show scheduled activities but may not reflect actual resource availability.</a:t>
            </a:r>
            <a:endParaRPr lang="en-US" dirty="0"/>
          </a:p>
          <a:p>
            <a:pPr marL="279400" indent="-279400">
              <a:spcAft>
                <a:spcPts val="1000"/>
              </a:spcAft>
              <a:buClr>
                <a:schemeClr val="accent1"/>
              </a:buClr>
              <a:buSzPct val="100000"/>
              <a:buChar char="•"/>
            </a:pPr>
            <a:r>
              <a:rPr lang="en-US" sz="1800" dirty="0">
                <a:solidFill>
                  <a:schemeClr val="tx1"/>
                </a:solidFill>
              </a:rPr>
              <a:t>The gap they leave open (Key Challenges): </a:t>
            </a:r>
            <a:r>
              <a:rPr lang="en-IN" dirty="0"/>
              <a:t>No centralized platform at our college to discover available campus resources. Lack of reliable, up-to-date information about actual availability. Difficulty finding suitable alternatives and identifying underutilized facilities.</a:t>
            </a:r>
          </a:p>
          <a:p>
            <a:pPr marL="279400" indent="-279400">
              <a:spcAft>
                <a:spcPts val="1000"/>
              </a:spcAft>
              <a:buClr>
                <a:schemeClr val="accent1"/>
              </a:buClr>
              <a:buSzPct val="100000"/>
              <a:buChar char="•"/>
            </a:pPr>
            <a:endParaRPr lang="en-US" sz="1800" dirty="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PROBLEM INSIGHTS &amp; OPPORTUNITY AREAS</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pPr marL="0" indent="0">
              <a:buNone/>
            </a:pPr>
            <a:r>
              <a:rPr lang="en-US" sz="1500" b="1" dirty="0">
                <a:solidFill>
                  <a:schemeClr val="accent1"/>
                </a:solidFill>
              </a:rPr>
              <a:t>Power Rangers</a:t>
            </a:r>
            <a:endParaRPr lang="en-US" sz="900" dirty="0"/>
          </a:p>
        </p:txBody>
      </p:sp>
      <p:sp>
        <p:nvSpPr>
          <p:cNvPr id="7" name="Lead Icon Hex"/>
          <p:cNvSpPr/>
          <p:nvPr/>
        </p:nvSpPr>
        <p:spPr>
          <a:xfrm>
            <a:off x="548640" y="1463040"/>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lang="en-US" sz="1800" b="1" dirty="0">
                <a:solidFill>
                  <a:schemeClr val="accent2"/>
                </a:solidFill>
              </a:rPr>
              <a:t>Resources required to solve the problem</a:t>
            </a:r>
            <a:endParaRPr lang="en-US" sz="1800" dirty="0"/>
          </a:p>
        </p:txBody>
      </p:sp>
      <p:sp>
        <p:nvSpPr>
          <p:cNvPr id="10" name="Prompts"/>
          <p:cNvSpPr txBox="1"/>
          <p:nvPr/>
        </p:nvSpPr>
        <p:spPr>
          <a:xfrm>
            <a:off x="868679" y="2148840"/>
            <a:ext cx="10847527" cy="3185769"/>
          </a:xfrm>
          <a:prstGeom prst="rect">
            <a:avLst/>
          </a:prstGeom>
          <a:noFill/>
          <a:ln/>
        </p:spPr>
        <p:txBody>
          <a:bodyPr wrap="square" lIns="0" tIns="0" rIns="0" bIns="0" rtlCol="0" anchor="t"/>
          <a:lstStyle/>
          <a:p>
            <a:pPr marL="279400" indent="-279400">
              <a:spcAft>
                <a:spcPts val="1000"/>
              </a:spcAft>
              <a:buClr>
                <a:schemeClr val="accent1"/>
              </a:buClr>
              <a:buSzPct val="100000"/>
              <a:buChar char="•"/>
            </a:pPr>
            <a:r>
              <a:rPr lang="en-US" sz="1800" dirty="0">
                <a:solidFill>
                  <a:schemeClr val="tx1"/>
                </a:solidFill>
              </a:rPr>
              <a:t>Hardware Requirements: </a:t>
            </a:r>
            <a:r>
              <a:rPr lang="en-IN" dirty="0"/>
              <a:t>Existing college computers, smartphones, and internet connectivity.</a:t>
            </a:r>
          </a:p>
          <a:p>
            <a:pPr>
              <a:spcAft>
                <a:spcPts val="1000"/>
              </a:spcAft>
              <a:buClr>
                <a:schemeClr val="accent1"/>
              </a:buClr>
              <a:buSzPct val="100000"/>
            </a:pPr>
            <a:r>
              <a:rPr lang="en-IN" dirty="0"/>
              <a:t>                                                   A server or cloud infrastructure to store and manage resource information.</a:t>
            </a:r>
          </a:p>
          <a:p>
            <a:pPr>
              <a:spcAft>
                <a:spcPts val="1000"/>
              </a:spcAft>
              <a:buClr>
                <a:schemeClr val="accent1"/>
              </a:buClr>
              <a:buSzPct val="100000"/>
            </a:pPr>
            <a:r>
              <a:rPr lang="en-IN" dirty="0"/>
              <a:t>                                                   Optional QR codes or occupancy sensors to update availability.</a:t>
            </a:r>
          </a:p>
          <a:p>
            <a:pPr marL="285750" indent="-285750">
              <a:spcAft>
                <a:spcPts val="1000"/>
              </a:spcAft>
              <a:buClr>
                <a:schemeClr val="accent1"/>
              </a:buClr>
              <a:buSzPct val="100000"/>
              <a:buFont typeface="Arial" panose="020B0604020202020204" pitchFamily="34" charset="0"/>
              <a:buChar char="•"/>
            </a:pPr>
            <a:r>
              <a:rPr lang="en-US" sz="1800" dirty="0">
                <a:solidFill>
                  <a:schemeClr val="tx1"/>
                </a:solidFill>
              </a:rPr>
              <a:t>Software Requirements: </a:t>
            </a:r>
            <a:r>
              <a:rPr lang="en-IN" dirty="0"/>
              <a:t>A web or mobile application for students to find available resources.</a:t>
            </a:r>
          </a:p>
          <a:p>
            <a:pPr lvl="5">
              <a:spcAft>
                <a:spcPts val="1000"/>
              </a:spcAft>
              <a:buClr>
                <a:schemeClr val="accent1"/>
              </a:buClr>
              <a:buSzPct val="100000"/>
            </a:pPr>
            <a:r>
              <a:rPr lang="en-IN" dirty="0"/>
              <a:t>      A database to store resource details, locations, and availability status.</a:t>
            </a:r>
          </a:p>
          <a:p>
            <a:pPr lvl="0"/>
            <a:r>
              <a:rPr lang="en-IN" dirty="0"/>
              <a:t>                                                 An administrative dashboard to monitor resource usage &amp; identify underused facilities</a:t>
            </a:r>
          </a:p>
          <a:p>
            <a:pPr marL="285750" lvl="0" indent="-285750">
              <a:buFont typeface="Arial" panose="020B0604020202020204" pitchFamily="34" charset="0"/>
              <a:buChar char="•"/>
            </a:pPr>
            <a:r>
              <a:rPr lang="en-US" sz="1800" dirty="0">
                <a:solidFill>
                  <a:schemeClr val="tx1"/>
                </a:solidFill>
              </a:rPr>
              <a:t>Other resources (Including Human Resources): </a:t>
            </a:r>
            <a:r>
              <a:rPr lang="en-IN" dirty="0"/>
              <a:t>Software developers to design and maintain the system. College administrators, faculty, and lab staff to provide and update resource information. Student feedback and college IT support for testing and implementation.</a:t>
            </a:r>
          </a:p>
          <a:p>
            <a:pPr marL="285750" lvl="0" indent="-285750">
              <a:buFont typeface="Arial" panose="020B0604020202020204" pitchFamily="34" charset="0"/>
              <a:buChar char="•"/>
            </a:pPr>
            <a:endParaRPr lang="en-US" sz="1800" dirty="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INITIAL DIRECTION &amp; EXPECTED OUTCOME</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pPr marL="0" indent="0">
              <a:buNone/>
            </a:pPr>
            <a:r>
              <a:rPr lang="en-US" sz="1500" b="1" dirty="0">
                <a:solidFill>
                  <a:schemeClr val="accent1"/>
                </a:solidFill>
              </a:rPr>
              <a:t>Power Rangers</a:t>
            </a:r>
            <a:endParaRPr lang="en-US" sz="900" dirty="0"/>
          </a:p>
        </p:txBody>
      </p:sp>
      <p:sp>
        <p:nvSpPr>
          <p:cNvPr id="7" name="Lead Icon Hex"/>
          <p:cNvSpPr/>
          <p:nvPr/>
        </p:nvSpPr>
        <p:spPr>
          <a:xfrm>
            <a:off x="548640" y="1463040"/>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lang="en-US" sz="1800" b="1" dirty="0">
                <a:solidFill>
                  <a:schemeClr val="accent2"/>
                </a:solidFill>
              </a:rPr>
              <a:t>What Is Your Expected Outcome?</a:t>
            </a:r>
            <a:endParaRPr lang="en-US" sz="1800" dirty="0"/>
          </a:p>
        </p:txBody>
      </p:sp>
      <p:sp>
        <p:nvSpPr>
          <p:cNvPr id="10" name="Prompts"/>
          <p:cNvSpPr txBox="1"/>
          <p:nvPr/>
        </p:nvSpPr>
        <p:spPr>
          <a:xfrm>
            <a:off x="868680" y="2148840"/>
            <a:ext cx="10424160" cy="1645920"/>
          </a:xfrm>
          <a:prstGeom prst="rect">
            <a:avLst/>
          </a:prstGeom>
          <a:noFill/>
          <a:ln/>
        </p:spPr>
        <p:txBody>
          <a:bodyPr wrap="square" lIns="0" tIns="0" rIns="0" bIns="0" rtlCol="0" anchor="t"/>
          <a:lstStyle/>
          <a:p>
            <a:pPr marL="279400" indent="-279400">
              <a:spcAft>
                <a:spcPts val="1000"/>
              </a:spcAft>
              <a:buClr>
                <a:schemeClr val="accent1"/>
              </a:buClr>
              <a:buSzPct val="100000"/>
              <a:buChar char="•"/>
            </a:pPr>
            <a:r>
              <a:rPr lang="en-US" sz="1800" dirty="0">
                <a:solidFill>
                  <a:schemeClr val="tx1"/>
                </a:solidFill>
              </a:rPr>
              <a:t>What your team intends to do: </a:t>
            </a:r>
            <a:r>
              <a:rPr lang="en-IN" dirty="0"/>
              <a:t>Propose a centralized campus resource availability system that helps students find suitable facilities and helps colleges monitor resource utilization.</a:t>
            </a:r>
            <a:endParaRPr lang="en-US" sz="1800" dirty="0"/>
          </a:p>
          <a:p>
            <a:pPr marL="279400" indent="-279400">
              <a:spcAft>
                <a:spcPts val="1000"/>
              </a:spcAft>
              <a:buClr>
                <a:schemeClr val="accent1"/>
              </a:buClr>
              <a:buSzPct val="100000"/>
              <a:buChar char="•"/>
            </a:pPr>
            <a:r>
              <a:rPr lang="en-US" sz="1800" dirty="0">
                <a:solidFill>
                  <a:schemeClr val="tx1"/>
                </a:solidFill>
              </a:rPr>
              <a:t>What you want to improve: </a:t>
            </a:r>
            <a:r>
              <a:rPr lang="en-IN" dirty="0"/>
              <a:t>Reduce the time students spend searching for resources, improve the reliability of availability information, and minimize inefficient use of campus facilities.</a:t>
            </a:r>
            <a:endParaRPr lang="en-US" sz="1800" dirty="0"/>
          </a:p>
          <a:p>
            <a:pPr marL="279400" indent="-279400">
              <a:spcAft>
                <a:spcPts val="1000"/>
              </a:spcAft>
              <a:buClr>
                <a:schemeClr val="accent1"/>
              </a:buClr>
              <a:buSzPct val="100000"/>
              <a:buChar char="•"/>
            </a:pPr>
            <a:r>
              <a:rPr lang="en-US" sz="1800" dirty="0">
                <a:solidFill>
                  <a:schemeClr val="tx1"/>
                </a:solidFill>
              </a:rPr>
              <a:t>What successful improvement should you achieve: </a:t>
            </a:r>
            <a:r>
              <a:rPr lang="en-IN" dirty="0"/>
              <a:t>Faster access to campus resources, fewer unsuccessful searches, improved student productivity, and better utilization of existing college infrastructure.</a:t>
            </a:r>
            <a:endParaRPr lang="en-US" sz="1800" dirty="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6</a:t>
            </a:fld>
            <a:endParaRPr lang="en-US"/>
          </a:p>
        </p:txBody>
      </p:sp>
    </p:spTree>
  </p:cSld>
  <p:clrMapOvr>
    <a:masterClrMapping/>
  </p:clrMapOvr>
</p:sld>
</file>

<file path=ppt/theme/theme1.xml><?xml version="1.0" encoding="utf-8"?>
<a:theme xmlns:a="http://schemas.openxmlformats.org/drawingml/2006/main" name="Genesis Ideathon">
  <a:themeElements>
    <a:clrScheme name="Genesis Ideathon">
      <a:dk1>
        <a:srgbClr val="0E2A2F"/>
      </a:dk1>
      <a:lt1>
        <a:srgbClr val="FFFFFF"/>
      </a:lt1>
      <a:dk2>
        <a:srgbClr val="052B35"/>
      </a:dk2>
      <a:lt2>
        <a:srgbClr val="F3F8F5"/>
      </a:lt2>
      <a:accent1>
        <a:srgbClr val="026855"/>
      </a:accent1>
      <a:accent2>
        <a:srgbClr val="094542"/>
      </a:accent2>
      <a:accent3>
        <a:srgbClr val="7AC143"/>
      </a:accent3>
      <a:accent4>
        <a:srgbClr val="4FA278"/>
      </a:accent4>
      <a:accent5>
        <a:srgbClr val="5B6F6B"/>
      </a:accent5>
      <a:accent6>
        <a:srgbClr val="D3E6DD"/>
      </a:accent6>
      <a:hlink>
        <a:srgbClr val="026855"/>
      </a:hlink>
      <a:folHlink>
        <a:srgbClr val="5B6F6B"/>
      </a:folHlink>
    </a:clrScheme>
    <a:fontScheme name="Genesis Ideatho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138</TotalTime>
  <Words>785</Words>
  <Application>Microsoft Office PowerPoint</Application>
  <PresentationFormat>Widescreen</PresentationFormat>
  <Paragraphs>63</Paragraphs>
  <Slides>6</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Calibri</vt:lpstr>
      <vt:lpstr>Cambria</vt:lpstr>
      <vt:lpstr>Genesis Ideathon</vt:lpstr>
      <vt:lpstr>WHO IS AFFECTED?</vt:lpstr>
      <vt:lpstr>CURRENT SITUATION &amp; CONTEXT</vt:lpstr>
      <vt:lpstr>KEY CHALLENGES</vt:lpstr>
      <vt:lpstr>EXISTING SOLUTIONS / APPROACHES</vt:lpstr>
      <vt:lpstr>PROBLEM INSIGHTS &amp; OPPORTUNITY AREAS</vt:lpstr>
      <vt:lpstr>INITIAL DIRECTION &amp; EXPECTED OUTCOME</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Genesis Ideathon – Pre-Ideathon Template</dc:title>
  <dc:subject>PptxGenJS Presentation</dc:subject>
  <dc:creator>Genesis Ideathon</dc:creator>
  <cp:lastModifiedBy>Aditya Pakharia</cp:lastModifiedBy>
  <cp:revision>4</cp:revision>
  <dcterms:created xsi:type="dcterms:W3CDTF">2026-10-07T15:27:40Z</dcterms:created>
  <dcterms:modified xsi:type="dcterms:W3CDTF">2026-10-09T17:08:31Z</dcterms:modified>
</cp:coreProperties>
</file>